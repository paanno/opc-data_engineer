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4" autoAdjust="0"/>
    <p:restoredTop sz="94660"/>
  </p:normalViewPr>
  <p:slideViewPr>
    <p:cSldViewPr snapToGrid="0" showGuides="1">
      <p:cViewPr varScale="1">
        <p:scale>
          <a:sx n="76" d="100"/>
          <a:sy n="76" d="100"/>
        </p:scale>
        <p:origin x="120" y="16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63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9760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343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392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1873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25584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691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5403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086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4145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958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6B5FC59A-91CD-43F3-887F-3138355DBE18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AFC238DC-4BBE-4785-88AC-AFA966B5D992}" type="slidenum">
              <a:rPr lang="fr-FR" smtClean="0"/>
              <a:t>‹N°›</a:t>
            </a:fld>
            <a:endParaRPr lang="fr-FR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92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8A85E29-C85E-758C-BE71-6E646814D4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Entraînez-vous avec SQL et créez votre BDD</a:t>
            </a:r>
          </a:p>
        </p:txBody>
      </p:sp>
      <p:sp>
        <p:nvSpPr>
          <p:cNvPr id="5" name="Sous-titre 4">
            <a:extLst>
              <a:ext uri="{FF2B5EF4-FFF2-40B4-BE49-F238E27FC236}">
                <a16:creationId xmlns:a16="http://schemas.microsoft.com/office/drawing/2014/main" id="{88965ACD-C06D-3FDC-0A11-98B62F1136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AUTEUR : Paul-Alexandre ANNONAY</a:t>
            </a:r>
          </a:p>
          <a:p>
            <a:r>
              <a:rPr lang="fr-FR" dirty="0"/>
              <a:t>Mentor : Paul SMADJA</a:t>
            </a:r>
          </a:p>
        </p:txBody>
      </p:sp>
    </p:spTree>
    <p:extLst>
      <p:ext uri="{BB962C8B-B14F-4D97-AF65-F5344CB8AC3E}">
        <p14:creationId xmlns:p14="http://schemas.microsoft.com/office/powerpoint/2010/main" val="140115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F76029E-AB3C-BED9-FD96-5C8DED914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5F38AC52-0B74-A415-2FD7-3081E116A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>
                <a:latin typeface="Aptos" panose="020B0004020202020204" pitchFamily="34" charset="0"/>
              </a:rPr>
              <a:t>Contexte du projet</a:t>
            </a:r>
          </a:p>
          <a:p>
            <a:r>
              <a:rPr lang="fr-FR" b="1" dirty="0">
                <a:latin typeface="Aptos" panose="020B0004020202020204" pitchFamily="34" charset="0"/>
              </a:rPr>
              <a:t>Transformation des données</a:t>
            </a:r>
          </a:p>
          <a:p>
            <a:r>
              <a:rPr lang="fr-FR" b="1" dirty="0">
                <a:latin typeface="Aptos" panose="020B0004020202020204" pitchFamily="34" charset="0"/>
              </a:rPr>
              <a:t>Dictionnaire des données</a:t>
            </a:r>
          </a:p>
          <a:p>
            <a:r>
              <a:rPr lang="fr-FR" b="1" dirty="0">
                <a:latin typeface="Aptos" panose="020B0004020202020204" pitchFamily="34" charset="0"/>
              </a:rPr>
              <a:t>Schéma relationnel</a:t>
            </a:r>
          </a:p>
          <a:p>
            <a:r>
              <a:rPr lang="fr-FR" b="1" dirty="0">
                <a:latin typeface="Aptos" panose="020B0004020202020204" pitchFamily="34" charset="0"/>
              </a:rPr>
              <a:t>Base de données</a:t>
            </a:r>
          </a:p>
          <a:p>
            <a:r>
              <a:rPr lang="fr-FR" b="1" dirty="0">
                <a:latin typeface="Aptos" panose="020B0004020202020204" pitchFamily="34" charset="0"/>
              </a:rPr>
              <a:t>Requêtage de la base</a:t>
            </a:r>
          </a:p>
        </p:txBody>
      </p:sp>
    </p:spTree>
    <p:extLst>
      <p:ext uri="{BB962C8B-B14F-4D97-AF65-F5344CB8AC3E}">
        <p14:creationId xmlns:p14="http://schemas.microsoft.com/office/powerpoint/2010/main" val="1574746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4E1AE3-6FD1-1142-6003-0473A3B09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 du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92E14C-9D60-7D24-DAFD-C42487B1A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Entreprise et rôle</a:t>
            </a:r>
          </a:p>
          <a:p>
            <a:pPr lvl="1"/>
            <a:r>
              <a:rPr lang="fr-FR" dirty="0"/>
              <a:t>Laplace </a:t>
            </a:r>
            <a:r>
              <a:rPr lang="fr-FR" dirty="0" err="1"/>
              <a:t>Immo</a:t>
            </a:r>
            <a:r>
              <a:rPr lang="fr-FR" dirty="0"/>
              <a:t> : Réseau national d’agences immobilières</a:t>
            </a:r>
          </a:p>
          <a:p>
            <a:pPr lvl="1"/>
            <a:r>
              <a:rPr lang="fr-FR" dirty="0"/>
              <a:t>Rôle : Data Engineer</a:t>
            </a:r>
          </a:p>
          <a:p>
            <a:r>
              <a:rPr lang="fr-FR" dirty="0"/>
              <a:t>Objectifs</a:t>
            </a:r>
          </a:p>
          <a:p>
            <a:pPr lvl="1"/>
            <a:r>
              <a:rPr lang="fr-FR" dirty="0"/>
              <a:t>Collecter les transactions immobilières françaises</a:t>
            </a:r>
          </a:p>
          <a:p>
            <a:pPr lvl="1"/>
            <a:r>
              <a:rPr lang="fr-FR" dirty="0"/>
              <a:t>Suivre l’évolution du prix au m² par région (POC)</a:t>
            </a:r>
          </a:p>
          <a:p>
            <a:r>
              <a:rPr lang="fr-FR" dirty="0"/>
              <a:t>Démarche</a:t>
            </a:r>
          </a:p>
          <a:p>
            <a:pPr lvl="1"/>
            <a:r>
              <a:rPr lang="fr-FR" dirty="0"/>
              <a:t>Modéliser un schéma relationnel normalisé</a:t>
            </a:r>
          </a:p>
          <a:p>
            <a:pPr lvl="1"/>
            <a:r>
              <a:rPr lang="fr-FR" dirty="0"/>
              <a:t>Créer la BDD, charger les données et requêter en SQL</a:t>
            </a:r>
          </a:p>
        </p:txBody>
      </p:sp>
    </p:spTree>
    <p:extLst>
      <p:ext uri="{BB962C8B-B14F-4D97-AF65-F5344CB8AC3E}">
        <p14:creationId xmlns:p14="http://schemas.microsoft.com/office/powerpoint/2010/main" val="577576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5E6695-CBFC-F632-BCA5-78BCE5AD6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Transformation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990B32-B25D-78BE-964A-961D370B2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Suppression des colonnes vides dans les fichiers de départ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Transformation des ID pour répondre aux formes normales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Choix des colonnes nécessaires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77632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40F20F-B269-A039-C976-5EB43F6EF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Dictionnaire de données</a:t>
            </a:r>
          </a:p>
        </p:txBody>
      </p:sp>
      <p:pic>
        <p:nvPicPr>
          <p:cNvPr id="5" name="Espace réservé du contenu 4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33FB4A53-8ABC-B5CA-61D3-83E0595F11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3872" y="2286000"/>
            <a:ext cx="9500394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278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1B70F0-0FDA-86F3-D705-94F28B427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Schéma relationnel</a:t>
            </a:r>
          </a:p>
        </p:txBody>
      </p:sp>
      <p:pic>
        <p:nvPicPr>
          <p:cNvPr id="5" name="Espace réservé du contenu 4" descr="Une image contenant texte, capture d’écran, nombre, conception&#10;&#10;Le contenu généré par l’IA peut être incorrect.">
            <a:extLst>
              <a:ext uri="{FF2B5EF4-FFF2-40B4-BE49-F238E27FC236}">
                <a16:creationId xmlns:a16="http://schemas.microsoft.com/office/drawing/2014/main" id="{8186384D-16E0-F25E-30EA-313CB2BCF1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6320" y="2286000"/>
            <a:ext cx="5235498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821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1950AB-3A68-AE92-C5F0-E0E702055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Base de données</a:t>
            </a:r>
          </a:p>
        </p:txBody>
      </p:sp>
      <p:pic>
        <p:nvPicPr>
          <p:cNvPr id="7" name="Espace réservé du contenu 6" descr="Une image contenant text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45881038-A858-8345-0FA0-1A17AC7D821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70467" y="2286000"/>
            <a:ext cx="4661504" cy="4022725"/>
          </a:xfrm>
          <a:prstGeom prst="rect">
            <a:avLst/>
          </a:prstGeom>
        </p:spPr>
      </p:pic>
      <p:pic>
        <p:nvPicPr>
          <p:cNvPr id="9" name="Espace réservé du contenu 8" descr="Une image contenant texte, capture d’écran, nombre, menu&#10;&#10;Le contenu généré par l’IA peut être incorrect.">
            <a:extLst>
              <a:ext uri="{FF2B5EF4-FFF2-40B4-BE49-F238E27FC236}">
                <a16:creationId xmlns:a16="http://schemas.microsoft.com/office/drawing/2014/main" id="{C69836B2-4FBE-3B45-840A-68FE6A6FC00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989638" y="2297517"/>
            <a:ext cx="4754562" cy="3999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13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B515DBD-5FD9-C81F-9742-422101DF1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Requêtage de la base de données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46BCEE5-96D1-D4F1-A7B7-8D25294C26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8838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8E2EA7AF-98D3-0BF4-DFD2-CB68E3836790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86630596"/>
              </p:ext>
            </p:extLst>
          </p:nvPr>
        </p:nvGraphicFramePr>
        <p:xfrm>
          <a:off x="838200" y="161925"/>
          <a:ext cx="10515600" cy="65007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208150673"/>
                    </a:ext>
                  </a:extLst>
                </a:gridCol>
                <a:gridCol w="3632200">
                  <a:extLst>
                    <a:ext uri="{9D8B030D-6E8A-4147-A177-3AD203B41FA5}">
                      <a16:colId xmlns:a16="http://schemas.microsoft.com/office/drawing/2014/main" val="3295509663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1201838829"/>
                    </a:ext>
                  </a:extLst>
                </a:gridCol>
              </a:tblGrid>
              <a:tr h="1108075">
                <a:tc>
                  <a:txBody>
                    <a:bodyPr/>
                    <a:lstStyle/>
                    <a:p>
                      <a:pPr algn="l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1. Nombre total d’appartements vendus au 1er semestre 2020.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611213"/>
                  </a:ext>
                </a:extLst>
              </a:tr>
              <a:tr h="2882900">
                <a:tc>
                  <a:txBody>
                    <a:bodyPr/>
                    <a:lstStyle/>
                    <a:p>
                      <a:r>
                        <a:rPr lang="fr-FR" b="1" dirty="0"/>
                        <a:t>2. Le nombre de ventes d’appartement par région pour le 1er semestre</a:t>
                      </a:r>
                    </a:p>
                    <a:p>
                      <a:r>
                        <a:rPr lang="fr-FR" b="1" dirty="0"/>
                        <a:t>2020.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145388"/>
                  </a:ext>
                </a:extLst>
              </a:tr>
              <a:tr h="2509804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3. Proportion des ventes d’appartements par le nombre de pièces.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890325"/>
                  </a:ext>
                </a:extLst>
              </a:tr>
            </a:tbl>
          </a:graphicData>
        </a:graphic>
      </p:graphicFrame>
      <p:pic>
        <p:nvPicPr>
          <p:cNvPr id="11" name="Image 10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4188D42D-6E8E-84D2-B781-2A19EDF62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2972" y="266577"/>
            <a:ext cx="3458058" cy="876422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13CE6DE-879D-09B1-4E54-043E32872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570" y="487766"/>
            <a:ext cx="3467274" cy="655233"/>
          </a:xfrm>
          <a:prstGeom prst="rect">
            <a:avLst/>
          </a:prstGeom>
        </p:spPr>
      </p:pic>
      <p:pic>
        <p:nvPicPr>
          <p:cNvPr id="15" name="Image 1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0D2A2A36-A740-45D9-5DCC-51FB1D4678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972" y="1358296"/>
            <a:ext cx="3458058" cy="2070704"/>
          </a:xfrm>
          <a:prstGeom prst="rect">
            <a:avLst/>
          </a:prstGeom>
        </p:spPr>
      </p:pic>
      <p:pic>
        <p:nvPicPr>
          <p:cNvPr id="17" name="Image 16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C0670CC5-76FE-43ED-F9C0-A651B7C5CB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5570" y="1358296"/>
            <a:ext cx="3458057" cy="2675236"/>
          </a:xfrm>
          <a:prstGeom prst="rect">
            <a:avLst/>
          </a:prstGeom>
        </p:spPr>
      </p:pic>
      <p:pic>
        <p:nvPicPr>
          <p:cNvPr id="19" name="Image 18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D6687312-B737-BC34-BFF3-8E1AB763A9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5571" y="4248829"/>
            <a:ext cx="3467274" cy="2304371"/>
          </a:xfrm>
          <a:prstGeom prst="rect">
            <a:avLst/>
          </a:prstGeom>
        </p:spPr>
      </p:pic>
      <p:pic>
        <p:nvPicPr>
          <p:cNvPr id="21" name="Image 20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9F5850F9-028E-26E8-D6BD-B8B59DDFD6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2973" y="4248829"/>
            <a:ext cx="3458058" cy="1250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6912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0B876-C17A-D77C-9F99-38590071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188B40B8-5030-A4A1-896F-3F9204DBB6A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78447269"/>
              </p:ext>
            </p:extLst>
          </p:nvPr>
        </p:nvGraphicFramePr>
        <p:xfrm>
          <a:off x="838200" y="161925"/>
          <a:ext cx="10515600" cy="6203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208150673"/>
                    </a:ext>
                  </a:extLst>
                </a:gridCol>
                <a:gridCol w="3632200">
                  <a:extLst>
                    <a:ext uri="{9D8B030D-6E8A-4147-A177-3AD203B41FA5}">
                      <a16:colId xmlns:a16="http://schemas.microsoft.com/office/drawing/2014/main" val="3295509663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1201838829"/>
                    </a:ext>
                  </a:extLst>
                </a:gridCol>
              </a:tblGrid>
              <a:tr h="2568575">
                <a:tc>
                  <a:txBody>
                    <a:bodyPr/>
                    <a:lstStyle/>
                    <a:p>
                      <a:pPr algn="l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4. Liste des 10 départements où le prix du mètre carré est le plus élevé.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611213"/>
                  </a:ext>
                </a:extLst>
              </a:tr>
              <a:tr h="1689100">
                <a:tc>
                  <a:txBody>
                    <a:bodyPr/>
                    <a:lstStyle/>
                    <a:p>
                      <a:r>
                        <a:rPr lang="fr-FR" b="1" dirty="0"/>
                        <a:t>5. Prix moyen du mètre carré d’une maison en Île-de-France.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145388"/>
                  </a:ext>
                </a:extLst>
              </a:tr>
              <a:tr h="1945329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6. Liste des 10 appartements les plus chers avec la région et le nombre</a:t>
                      </a:r>
                    </a:p>
                    <a:p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de mètres carrés.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890325"/>
                  </a:ext>
                </a:extLst>
              </a:tr>
            </a:tbl>
          </a:graphicData>
        </a:graphic>
      </p:graphicFrame>
      <p:pic>
        <p:nvPicPr>
          <p:cNvPr id="3" name="Image 2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45E9DA1B-BA49-F949-408B-FE5018094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165" y="284196"/>
            <a:ext cx="3423036" cy="1438476"/>
          </a:xfrm>
          <a:prstGeom prst="rect">
            <a:avLst/>
          </a:prstGeom>
        </p:spPr>
      </p:pic>
      <p:pic>
        <p:nvPicPr>
          <p:cNvPr id="5" name="Image 4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D1B09983-C07B-4E97-A477-1A55D09F2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555" y="284196"/>
            <a:ext cx="3521345" cy="2395504"/>
          </a:xfrm>
          <a:prstGeom prst="rect">
            <a:avLst/>
          </a:prstGeom>
        </p:spPr>
      </p:pic>
      <p:pic>
        <p:nvPicPr>
          <p:cNvPr id="8" name="Image 7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34F3424E-E254-A171-882A-6ABFED053D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164" y="2801970"/>
            <a:ext cx="3423035" cy="152054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6359ADE-96D3-C046-5F57-0BD3D8612D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3554" y="2801970"/>
            <a:ext cx="3521345" cy="743036"/>
          </a:xfrm>
          <a:prstGeom prst="rect">
            <a:avLst/>
          </a:prstGeom>
        </p:spPr>
      </p:pic>
      <p:pic>
        <p:nvPicPr>
          <p:cNvPr id="18" name="Image 17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9AE9DB7A-C009-52D2-F3C4-BCBC4A381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3554" y="4506591"/>
            <a:ext cx="3521345" cy="1736846"/>
          </a:xfrm>
          <a:prstGeom prst="rect">
            <a:avLst/>
          </a:prstGeom>
        </p:spPr>
      </p:pic>
      <p:pic>
        <p:nvPicPr>
          <p:cNvPr id="22" name="Image 21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51DFA640-67FF-7D02-7F20-A9835B0BA8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6164" y="4487595"/>
            <a:ext cx="3423035" cy="175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212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0CF3-2F03-E35D-1AE0-D5D462BF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A6152174-0609-C24D-E90B-871E8F01C616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419197171"/>
              </p:ext>
            </p:extLst>
          </p:nvPr>
        </p:nvGraphicFramePr>
        <p:xfrm>
          <a:off x="838200" y="161925"/>
          <a:ext cx="10515600" cy="646747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208150673"/>
                    </a:ext>
                  </a:extLst>
                </a:gridCol>
                <a:gridCol w="3632200">
                  <a:extLst>
                    <a:ext uri="{9D8B030D-6E8A-4147-A177-3AD203B41FA5}">
                      <a16:colId xmlns:a16="http://schemas.microsoft.com/office/drawing/2014/main" val="3295509663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1201838829"/>
                    </a:ext>
                  </a:extLst>
                </a:gridCol>
              </a:tblGrid>
              <a:tr h="2124075">
                <a:tc>
                  <a:txBody>
                    <a:bodyPr/>
                    <a:lstStyle/>
                    <a:p>
                      <a:pPr algn="l"/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7. Taux d’évolution du nombre de ventes entre le premier et le second trimestre de 2020.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611213"/>
                  </a:ext>
                </a:extLst>
              </a:tr>
              <a:tr h="2108200">
                <a:tc>
                  <a:txBody>
                    <a:bodyPr/>
                    <a:lstStyle/>
                    <a:p>
                      <a:r>
                        <a:rPr lang="fr-FR" b="1" dirty="0"/>
                        <a:t>8. Le classement des régions par rapport au prix au mètre carré des appartement de plus de 4 pièces.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145388"/>
                  </a:ext>
                </a:extLst>
              </a:tr>
              <a:tr h="223520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9. Liste des communes ayant eu au moins 50 ventes au 1er trimestre.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890325"/>
                  </a:ext>
                </a:extLst>
              </a:tr>
            </a:tbl>
          </a:graphicData>
        </a:graphic>
      </p:graphicFrame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DC0FAAA9-02F0-1DDD-8718-E956931C5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807" y="263335"/>
            <a:ext cx="3465978" cy="192106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FAF4B51-E855-2B6B-39CA-FCFC8A38D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013" y="263335"/>
            <a:ext cx="3465978" cy="587566"/>
          </a:xfrm>
          <a:prstGeom prst="rect">
            <a:avLst/>
          </a:prstGeom>
        </p:spPr>
      </p:pic>
      <p:pic>
        <p:nvPicPr>
          <p:cNvPr id="8" name="Image 7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4A180A87-328D-16B7-21C7-E3BF4A6667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807" y="2396808"/>
            <a:ext cx="3465978" cy="1921065"/>
          </a:xfrm>
          <a:prstGeom prst="rect">
            <a:avLst/>
          </a:prstGeom>
        </p:spPr>
      </p:pic>
      <p:pic>
        <p:nvPicPr>
          <p:cNvPr id="10" name="Image 9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86AB6C30-7322-C0F4-0A9F-B560338C34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013" y="2396808"/>
            <a:ext cx="3465978" cy="1921065"/>
          </a:xfrm>
          <a:prstGeom prst="rect">
            <a:avLst/>
          </a:prstGeom>
        </p:spPr>
      </p:pic>
      <p:pic>
        <p:nvPicPr>
          <p:cNvPr id="14" name="Image 13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501A052-4149-FEAD-CC59-5F58ACCF4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0808" y="4466924"/>
            <a:ext cx="3465977" cy="2045364"/>
          </a:xfrm>
          <a:prstGeom prst="rect">
            <a:avLst/>
          </a:prstGeom>
        </p:spPr>
      </p:pic>
      <p:pic>
        <p:nvPicPr>
          <p:cNvPr id="18" name="Image 17" descr="Une image contenant texte, capture d’écran, ligne, Parallèle&#10;&#10;Le contenu généré par l’IA peut être incorrect.">
            <a:extLst>
              <a:ext uri="{FF2B5EF4-FFF2-40B4-BE49-F238E27FC236}">
                <a16:creationId xmlns:a16="http://schemas.microsoft.com/office/drawing/2014/main" id="{7D171482-3936-4F7E-8999-9BEE30978D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1013" y="4466924"/>
            <a:ext cx="3465977" cy="487675"/>
          </a:xfrm>
          <a:prstGeom prst="rect">
            <a:avLst/>
          </a:prstGeom>
        </p:spPr>
      </p:pic>
      <p:pic>
        <p:nvPicPr>
          <p:cNvPr id="22" name="Image 21" descr="Une image contenant texte, capture d’écran, ligne, Police&#10;&#10;Le contenu généré par l’IA peut être incorrect.">
            <a:extLst>
              <a:ext uri="{FF2B5EF4-FFF2-40B4-BE49-F238E27FC236}">
                <a16:creationId xmlns:a16="http://schemas.microsoft.com/office/drawing/2014/main" id="{F920A9E1-FF65-3F79-3F12-0BC947C4F0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1013" y="6162778"/>
            <a:ext cx="3465977" cy="349510"/>
          </a:xfrm>
          <a:prstGeom prst="rect">
            <a:avLst/>
          </a:prstGeom>
        </p:spPr>
      </p:pic>
      <p:pic>
        <p:nvPicPr>
          <p:cNvPr id="24" name="Image 23" descr="Une image contenant capture d’écran, texte, ligne, Police&#10;&#10;Le contenu généré par l’IA peut être incorrect.">
            <a:extLst>
              <a:ext uri="{FF2B5EF4-FFF2-40B4-BE49-F238E27FC236}">
                <a16:creationId xmlns:a16="http://schemas.microsoft.com/office/drawing/2014/main" id="{1151A873-53B3-9686-6574-86F2194C25E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61013" y="5357122"/>
            <a:ext cx="3465977" cy="337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266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55D48-DB92-1B36-680F-0AAEC3ACD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376AF098-02C2-C9C2-5EF7-C9C921AC50F6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21459071"/>
              </p:ext>
            </p:extLst>
          </p:nvPr>
        </p:nvGraphicFramePr>
        <p:xfrm>
          <a:off x="838200" y="161925"/>
          <a:ext cx="10515600" cy="646747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208150673"/>
                    </a:ext>
                  </a:extLst>
                </a:gridCol>
                <a:gridCol w="3632200">
                  <a:extLst>
                    <a:ext uri="{9D8B030D-6E8A-4147-A177-3AD203B41FA5}">
                      <a16:colId xmlns:a16="http://schemas.microsoft.com/office/drawing/2014/main" val="3295509663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1201838829"/>
                    </a:ext>
                  </a:extLst>
                </a:gridCol>
              </a:tblGrid>
              <a:tr h="2124075">
                <a:tc>
                  <a:txBody>
                    <a:bodyPr/>
                    <a:lstStyle/>
                    <a:p>
                      <a:pPr algn="l"/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10. Différence en pourcentage du prix au mètre carré entre un appartement de 2 pièces et un appartement de 3 pièces.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611213"/>
                  </a:ext>
                </a:extLst>
              </a:tr>
              <a:tr h="2108200">
                <a:tc>
                  <a:txBody>
                    <a:bodyPr/>
                    <a:lstStyle/>
                    <a:p>
                      <a:r>
                        <a:rPr lang="fr-FR" b="1" dirty="0"/>
                        <a:t>11. Les moyennes de valeurs foncières pour le top 3 des communes des départements 6, 13, 33, 59 et 69.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145388"/>
                  </a:ext>
                </a:extLst>
              </a:tr>
              <a:tr h="223520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12. Les 20 communes avec le plus de transactions pour 1000 habitants pour les communes qui dépassent les 10 000 habitants.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890325"/>
                  </a:ext>
                </a:extLst>
              </a:tr>
            </a:tbl>
          </a:graphicData>
        </a:graphic>
      </p:graphicFrame>
      <p:pic>
        <p:nvPicPr>
          <p:cNvPr id="4" name="Image 3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EEDD6D14-B7AD-2AF1-A44A-5EC06E253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9201" y="277025"/>
            <a:ext cx="3473106" cy="192106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4A8E336-9E95-ECA7-302C-9D22C27E6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013" y="1056197"/>
            <a:ext cx="3465977" cy="362719"/>
          </a:xfrm>
          <a:prstGeom prst="rect">
            <a:avLst/>
          </a:prstGeom>
        </p:spPr>
      </p:pic>
      <p:pic>
        <p:nvPicPr>
          <p:cNvPr id="12" name="Image 11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F732D25E-1A5D-14CF-A6D5-7397A3896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9201" y="2417969"/>
            <a:ext cx="3473106" cy="1896450"/>
          </a:xfrm>
          <a:prstGeom prst="rect">
            <a:avLst/>
          </a:prstGeom>
        </p:spPr>
      </p:pic>
      <p:pic>
        <p:nvPicPr>
          <p:cNvPr id="15" name="Image 14" descr="Une image contenant texte, capture d’écran, nombre, Parallèle&#10;&#10;Le contenu généré par l’IA peut être incorrect.">
            <a:extLst>
              <a:ext uri="{FF2B5EF4-FFF2-40B4-BE49-F238E27FC236}">
                <a16:creationId xmlns:a16="http://schemas.microsoft.com/office/drawing/2014/main" id="{92501FDD-DC3F-C40A-37D4-747E7360F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013" y="2417969"/>
            <a:ext cx="3465976" cy="1896450"/>
          </a:xfrm>
          <a:prstGeom prst="rect">
            <a:avLst/>
          </a:prstGeom>
        </p:spPr>
      </p:pic>
      <p:pic>
        <p:nvPicPr>
          <p:cNvPr id="17" name="Image 16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E0EB3B8C-9F16-B0CE-84A7-F3A2832B3B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9202" y="4466924"/>
            <a:ext cx="3469518" cy="2045364"/>
          </a:xfrm>
          <a:prstGeom prst="rect">
            <a:avLst/>
          </a:prstGeom>
        </p:spPr>
      </p:pic>
      <p:pic>
        <p:nvPicPr>
          <p:cNvPr id="20" name="Image 19" descr="Une image contenant text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C2D379A5-3CF5-064D-4A2A-33A003BACE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1013" y="4466924"/>
            <a:ext cx="3465976" cy="204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90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C9D9A4AD-9276-F161-A5F6-106D8FE14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Merci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C1DFB51D-44DB-CF14-B00C-4A20ECBAD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DES QUESTIONS ?</a:t>
            </a:r>
          </a:p>
        </p:txBody>
      </p:sp>
    </p:spTree>
    <p:extLst>
      <p:ext uri="{BB962C8B-B14F-4D97-AF65-F5344CB8AC3E}">
        <p14:creationId xmlns:p14="http://schemas.microsoft.com/office/powerpoint/2010/main" val="10351412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égral">
  <a:themeElements>
    <a:clrScheme name="Inté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é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é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101</TotalTime>
  <Words>338</Words>
  <Application>Microsoft Office PowerPoint</Application>
  <PresentationFormat>Grand écran</PresentationFormat>
  <Paragraphs>48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Tw Cen MT</vt:lpstr>
      <vt:lpstr>Tw Cen MT Condensed</vt:lpstr>
      <vt:lpstr>Wingdings 3</vt:lpstr>
      <vt:lpstr>Intégral</vt:lpstr>
      <vt:lpstr>Entraînez-vous avec SQL et créez votre BDD</vt:lpstr>
      <vt:lpstr>Sommaire</vt:lpstr>
      <vt:lpstr>Contexte du projet</vt:lpstr>
      <vt:lpstr>Transformation des données</vt:lpstr>
      <vt:lpstr>Dictionnaire de données</vt:lpstr>
      <vt:lpstr>Schéma relationnel</vt:lpstr>
      <vt:lpstr>Base de données</vt:lpstr>
      <vt:lpstr>Requêtage de la base de données</vt:lpstr>
      <vt:lpstr>Présentation PowerPoint</vt:lpstr>
      <vt:lpstr>Présentation PowerPoint</vt:lpstr>
      <vt:lpstr>Présentation PowerPoint</vt:lpstr>
      <vt:lpstr>Présentation PowerPoint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Paul-Alexandre ANNONAY</dc:creator>
  <cp:lastModifiedBy>Paul-Alexandre ANNONAY</cp:lastModifiedBy>
  <cp:revision>2</cp:revision>
  <dcterms:created xsi:type="dcterms:W3CDTF">2026-02-26T22:18:56Z</dcterms:created>
  <dcterms:modified xsi:type="dcterms:W3CDTF">2026-02-27T01:16:34Z</dcterms:modified>
</cp:coreProperties>
</file>