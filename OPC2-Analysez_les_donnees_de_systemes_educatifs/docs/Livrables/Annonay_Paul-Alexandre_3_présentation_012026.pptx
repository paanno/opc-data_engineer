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9" r:id="rId11"/>
    <p:sldId id="266" r:id="rId12"/>
    <p:sldId id="270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94679" autoAdjust="0"/>
  </p:normalViewPr>
  <p:slideViewPr>
    <p:cSldViewPr snapToGrid="0">
      <p:cViewPr varScale="1">
        <p:scale>
          <a:sx n="76" d="100"/>
          <a:sy n="76" d="100"/>
        </p:scale>
        <p:origin x="120" y="16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FBAA4-C36D-4B39-B2BC-ED42F24FF7EE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68D46-2DAE-43CE-9CB3-7EE897E30C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699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21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81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0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5934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790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823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665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Janvier 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510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051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238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823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fr-FR"/>
              <a:t>Janvier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8901027-7B96-45C9-88F9-B14195201B08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49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0D3F98-8911-3775-0E54-DA8604EC3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fr-FR" sz="7000" dirty="0"/>
              <a:t>Analyse exploratoire – Expansion a l’international pour </a:t>
            </a:r>
            <a:r>
              <a:rPr lang="fr-FR" sz="7000" dirty="0" err="1"/>
              <a:t>Academy</a:t>
            </a:r>
            <a:endParaRPr lang="fr-FR" sz="7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0FFBF03-8FF7-A965-8800-DF54A5ED5B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Auteur :	Paul-Alexandre Annonay</a:t>
            </a:r>
          </a:p>
          <a:p>
            <a:r>
              <a:rPr lang="fr-FR" dirty="0"/>
              <a:t>Mentor : 	Paul </a:t>
            </a:r>
            <a:r>
              <a:rPr lang="fr-FR" dirty="0" err="1"/>
              <a:t>smadja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6224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B82F0A-B01B-0B4F-8AA1-8B7805D8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DBE1FE-046D-44BA-D5C7-AC72E25E1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	Contexte &amp; objectif</a:t>
            </a:r>
          </a:p>
          <a:p>
            <a:pPr marL="0" indent="0">
              <a:buNone/>
            </a:pPr>
            <a:r>
              <a:rPr lang="fr-FR" dirty="0"/>
              <a:t>	Données </a:t>
            </a:r>
            <a:r>
              <a:rPr lang="fr-FR" dirty="0" err="1"/>
              <a:t>EdStats</a:t>
            </a:r>
            <a:r>
              <a:rPr lang="fr-FR" dirty="0"/>
              <a:t> : périmètre</a:t>
            </a:r>
          </a:p>
          <a:p>
            <a:pPr marL="0" indent="0">
              <a:buNone/>
            </a:pPr>
            <a:r>
              <a:rPr lang="fr-FR" dirty="0"/>
              <a:t>	Préparation &amp; qualité des données</a:t>
            </a:r>
          </a:p>
          <a:p>
            <a:pPr marL="0" indent="0">
              <a:buNone/>
            </a:pPr>
            <a:r>
              <a:rPr lang="fr-FR" dirty="0"/>
              <a:t>	Sélection des KPI (par piliers)</a:t>
            </a:r>
          </a:p>
          <a:p>
            <a:pPr marL="0" indent="0">
              <a:buNone/>
            </a:pPr>
            <a:r>
              <a:rPr lang="fr-FR" dirty="0"/>
              <a:t>	Analyse &amp; résultats (pays prioritaires)</a:t>
            </a:r>
          </a:p>
          <a:p>
            <a:pPr marL="0" indent="0">
              <a:buNone/>
            </a:pPr>
            <a:r>
              <a:rPr lang="fr-FR" dirty="0"/>
              <a:t>	Limites &amp; recommandations</a:t>
            </a:r>
          </a:p>
          <a:p>
            <a:pPr marL="0" indent="0">
              <a:buNone/>
            </a:pPr>
            <a:r>
              <a:rPr lang="fr-FR" dirty="0"/>
              <a:t>	Questions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EE9BBC-45A6-59DA-D304-F3D3090B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289DBA-6DAD-25B1-0F10-AC488D920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Paul-Alexandre Annonay - Formation Data Engineer (OpenClassrooms)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4BD604C-6C6B-101A-FD43-0D94DAB0D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405334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927E95-9C8A-731E-77DB-93EF5131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&amp; enjeu métier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C4443DA-5E87-0BAE-A1D8-DE2260883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Academy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E5F477-B68E-0A84-8509-393B92BA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1693332"/>
          </a:xfrm>
        </p:spPr>
        <p:txBody>
          <a:bodyPr>
            <a:normAutofit/>
          </a:bodyPr>
          <a:lstStyle/>
          <a:p>
            <a:r>
              <a:rPr lang="fr-FR" dirty="0"/>
              <a:t>Plateforme de formation en ligne, cible </a:t>
            </a:r>
            <a:r>
              <a:rPr lang="fr-FR" b="1" dirty="0"/>
              <a:t>lycée &amp; université.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2127EA-0264-3391-0ACD-196BD10AF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41AD53-BB4B-4801-5231-AB1523857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1693332"/>
          </a:xfrm>
        </p:spPr>
        <p:txBody>
          <a:bodyPr>
            <a:normAutofit/>
          </a:bodyPr>
          <a:lstStyle/>
          <a:p>
            <a:r>
              <a:rPr lang="fr-FR" dirty="0"/>
              <a:t>Projet d’</a:t>
            </a:r>
            <a:r>
              <a:rPr lang="fr-FR" b="1" dirty="0"/>
              <a:t>expansion internationale</a:t>
            </a:r>
            <a:r>
              <a:rPr lang="fr-FR" dirty="0"/>
              <a:t> : identifier les pays à plus fort potentiel.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46E846-4877-4EA3-AE85-336A09E0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3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4080FB4-0AC5-3B85-2A95-4B11F059E7A1}"/>
              </a:ext>
            </a:extLst>
          </p:cNvPr>
          <p:cNvSpPr txBox="1"/>
          <p:nvPr/>
        </p:nvSpPr>
        <p:spPr>
          <a:xfrm>
            <a:off x="838200" y="4428143"/>
            <a:ext cx="10515600" cy="138499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fr-FR" sz="2800" b="1" dirty="0"/>
              <a:t>Question centrale :</a:t>
            </a:r>
          </a:p>
          <a:p>
            <a:r>
              <a:rPr lang="fr-FR" sz="2800" dirty="0"/>
              <a:t>	Les données </a:t>
            </a:r>
            <a:r>
              <a:rPr lang="fr-FR" sz="2800" dirty="0" err="1"/>
              <a:t>EdStats</a:t>
            </a:r>
            <a:r>
              <a:rPr lang="fr-FR" sz="2800" dirty="0"/>
              <a:t> permettent-elles d’identifier et prioriser les 	marchés les plus prometteurs ?</a:t>
            </a:r>
            <a:endParaRPr lang="fr-FR" sz="2800" b="1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D3BF79-0BBD-B959-29CC-BCCB5143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9EE0090F-3D05-22F1-68C4-685680B67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2650085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88E204-52FF-F1C1-B7A0-33B80C2EF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Questions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9FCD33-22D1-6D24-BC3F-EEC1359D3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7470"/>
            <a:ext cx="10058400" cy="3731624"/>
          </a:xfrm>
        </p:spPr>
        <p:txBody>
          <a:bodyPr anchor="ctr"/>
          <a:lstStyle/>
          <a:p>
            <a:pPr marL="457200" indent="-457200">
              <a:buFont typeface="+mj-lt"/>
              <a:buAutoNum type="arabicPeriod"/>
            </a:pPr>
            <a:r>
              <a:rPr lang="fr-FR" b="1" dirty="0"/>
              <a:t>Où se trouve le plus fort potentiel de clients ?</a:t>
            </a:r>
          </a:p>
          <a:p>
            <a:pPr marL="457200" indent="-457200">
              <a:buFont typeface="+mj-lt"/>
              <a:buAutoNum type="arabicPeriod"/>
            </a:pPr>
            <a:r>
              <a:rPr lang="fr-FR" b="1" dirty="0"/>
              <a:t>Comment ce potentiel évolue-t-il dans le temps ?</a:t>
            </a:r>
          </a:p>
          <a:p>
            <a:pPr marL="457200" indent="-457200">
              <a:buFont typeface="+mj-lt"/>
              <a:buAutoNum type="arabicPeriod"/>
            </a:pPr>
            <a:r>
              <a:rPr lang="fr-FR" b="1" dirty="0"/>
              <a:t>Quels pays prioriser pour l’implantation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BAE247-19B2-345C-9B27-4191211D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4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2307459-75FD-E822-6B80-B06C663E806A}"/>
              </a:ext>
            </a:extLst>
          </p:cNvPr>
          <p:cNvSpPr txBox="1"/>
          <p:nvPr/>
        </p:nvSpPr>
        <p:spPr>
          <a:xfrm>
            <a:off x="1097280" y="1737360"/>
            <a:ext cx="903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i="1" dirty="0">
                <a:latin typeface="+mj-lt"/>
              </a:rPr>
              <a:t>Objectif : guider la décision d’implantation internationale à partir des données </a:t>
            </a:r>
            <a:r>
              <a:rPr lang="fr-FR" sz="2000" i="1" dirty="0" err="1">
                <a:latin typeface="+mj-lt"/>
              </a:rPr>
              <a:t>EdStats</a:t>
            </a:r>
            <a:r>
              <a:rPr lang="fr-FR" sz="2000" i="1" dirty="0">
                <a:latin typeface="+mj-lt"/>
              </a:rPr>
              <a:t>.</a:t>
            </a:r>
            <a:endParaRPr lang="fr-FR" sz="2000" dirty="0">
              <a:latin typeface="+mj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590D42-B4B2-62A4-E0A1-160DE116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3B2A052-3DCC-3017-B00F-12D6E97C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1215306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2DF012-CB47-C3D3-DF36-6B094B8A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utilisées (</a:t>
            </a:r>
            <a:r>
              <a:rPr lang="fr-FR" dirty="0" err="1"/>
              <a:t>EdStats</a:t>
            </a:r>
            <a:r>
              <a:rPr lang="fr-FR" dirty="0"/>
              <a:t> : panorama)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FF20C1-EB50-8A46-6185-4C1DAD99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5</a:t>
            </a:fld>
            <a:endParaRPr lang="fr-FR"/>
          </a:p>
        </p:txBody>
      </p:sp>
      <p:pic>
        <p:nvPicPr>
          <p:cNvPr id="5" name="Image 4" descr="Une image contenant texte, diagramme, capture d’écran, carte&#10;&#10;Le contenu généré par l’IA peut être incorrect.">
            <a:extLst>
              <a:ext uri="{FF2B5EF4-FFF2-40B4-BE49-F238E27FC236}">
                <a16:creationId xmlns:a16="http://schemas.microsoft.com/office/drawing/2014/main" id="{AB16B43E-7A8F-0257-B13D-5F6687188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008" y="1980623"/>
            <a:ext cx="3059984" cy="28762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D93EEDD-4230-52D1-D8D5-BAC186373F82}"/>
              </a:ext>
            </a:extLst>
          </p:cNvPr>
          <p:cNvSpPr txBox="1"/>
          <p:nvPr/>
        </p:nvSpPr>
        <p:spPr>
          <a:xfrm>
            <a:off x="1097280" y="4010494"/>
            <a:ext cx="3091251" cy="84638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sz="1700" u="sng" dirty="0"/>
              <a:t>Métadonnées Pays × Indicateur</a:t>
            </a:r>
          </a:p>
          <a:p>
            <a:r>
              <a:rPr lang="fr-FR" sz="1600" dirty="0"/>
              <a:t>Source, méthode de calcul, couverture / remarques</a:t>
            </a:r>
            <a:endParaRPr lang="fr-FR" sz="17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DE92AB-111C-35B8-9DE1-F058DDB57499}"/>
              </a:ext>
            </a:extLst>
          </p:cNvPr>
          <p:cNvSpPr txBox="1"/>
          <p:nvPr/>
        </p:nvSpPr>
        <p:spPr>
          <a:xfrm>
            <a:off x="1097280" y="2189601"/>
            <a:ext cx="3091251" cy="84638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sz="1700" u="sng" dirty="0"/>
              <a:t>Dimension Pays</a:t>
            </a:r>
          </a:p>
          <a:p>
            <a:r>
              <a:rPr lang="fr-FR" sz="1600" dirty="0"/>
              <a:t>Caractéristiques géographiques &amp; socio-économiques (pays ou zone)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AA35E41-D325-9763-8318-A0D468B59649}"/>
              </a:ext>
            </a:extLst>
          </p:cNvPr>
          <p:cNvSpPr txBox="1"/>
          <p:nvPr/>
        </p:nvSpPr>
        <p:spPr>
          <a:xfrm>
            <a:off x="4566008" y="5100143"/>
            <a:ext cx="3059984" cy="86177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sz="1700" u="sng" dirty="0"/>
              <a:t>Table de fait</a:t>
            </a:r>
          </a:p>
          <a:p>
            <a:r>
              <a:rPr lang="fr-FR" sz="1600" dirty="0"/>
              <a:t>Valeurs des indicateurs par pays et par année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BB1735F-8D18-4D4F-D9AA-DC71302664E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188531" y="2612794"/>
            <a:ext cx="472369" cy="1538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7BADD8E-CC47-0D57-A01D-5630C8C88D7E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188531" y="4252731"/>
            <a:ext cx="377477" cy="180956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B51FE6F2-6A4B-AD4C-AB21-F8A0D3751EBB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6096000" y="3949700"/>
            <a:ext cx="0" cy="115044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09F4700B-8E79-C740-21C2-31D3C7A28689}"/>
              </a:ext>
            </a:extLst>
          </p:cNvPr>
          <p:cNvSpPr txBox="1"/>
          <p:nvPr/>
        </p:nvSpPr>
        <p:spPr>
          <a:xfrm>
            <a:off x="8095696" y="3979717"/>
            <a:ext cx="3059984" cy="87716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sz="1700" u="sng" dirty="0"/>
              <a:t>Notes Pays × Indicateur × Année</a:t>
            </a:r>
          </a:p>
          <a:p>
            <a:r>
              <a:rPr lang="fr-FR" sz="1600" dirty="0"/>
              <a:t>Précisions, ruptures de série, commentaires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C00AE9AE-2C0F-453B-088B-BE9726E3F7ED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572905" y="4252731"/>
            <a:ext cx="522791" cy="165568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C7D55155-EBEF-41D1-FB22-B4985507806B}"/>
              </a:ext>
            </a:extLst>
          </p:cNvPr>
          <p:cNvSpPr txBox="1"/>
          <p:nvPr/>
        </p:nvSpPr>
        <p:spPr>
          <a:xfrm>
            <a:off x="8192118" y="2190990"/>
            <a:ext cx="2963562" cy="84638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sz="1700" u="sng" dirty="0"/>
              <a:t>Dimension Indicateurs (KPI)</a:t>
            </a:r>
          </a:p>
          <a:p>
            <a:r>
              <a:rPr lang="fr-FR" sz="1600" dirty="0"/>
              <a:t>Définition, unité, thème, périodicité des KPI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12585C2A-FE20-E640-17C5-AA80A811103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7479487" y="2614183"/>
            <a:ext cx="712631" cy="1400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Espace réservé du pied de page 25">
            <a:extLst>
              <a:ext uri="{FF2B5EF4-FFF2-40B4-BE49-F238E27FC236}">
                <a16:creationId xmlns:a16="http://schemas.microsoft.com/office/drawing/2014/main" id="{BDADEB65-F26D-F7E0-5314-A29AFDC79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27" name="Espace réservé de la date 26">
            <a:extLst>
              <a:ext uri="{FF2B5EF4-FFF2-40B4-BE49-F238E27FC236}">
                <a16:creationId xmlns:a16="http://schemas.microsoft.com/office/drawing/2014/main" id="{00EF4181-435E-77C7-4F64-C8C6BEE9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1867893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2906A6-006D-161A-B85A-7010621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r-FR" dirty="0"/>
              <a:t>Structure de la table principale (</a:t>
            </a:r>
            <a:r>
              <a:rPr lang="fr-FR" dirty="0" err="1"/>
              <a:t>EdStatsData</a:t>
            </a:r>
            <a:r>
              <a:rPr lang="fr-FR" dirty="0"/>
              <a:t>)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00F54C2C-9566-993B-F226-D3F8532D1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929289"/>
            <a:ext cx="4937760" cy="736282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fr-FR" dirty="0"/>
              <a:t>Lignes</a:t>
            </a:r>
          </a:p>
          <a:p>
            <a:r>
              <a:rPr lang="fr-FR" sz="1700" i="1" dirty="0"/>
              <a:t>Grain : pays × indicateur (KPI)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8486F6-86D4-5D0F-523E-B2E5E5C17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857500"/>
            <a:ext cx="4937760" cy="2717800"/>
          </a:xfrm>
        </p:spPr>
        <p:txBody>
          <a:bodyPr>
            <a:normAutofit/>
          </a:bodyPr>
          <a:lstStyle/>
          <a:p>
            <a:r>
              <a:rPr lang="fr-FR" sz="1700" dirty="0"/>
              <a:t>242 codes pays</a:t>
            </a:r>
          </a:p>
          <a:p>
            <a:pPr lvl="1"/>
            <a:r>
              <a:rPr lang="fr-FR" sz="1400" dirty="0"/>
              <a:t>Dont 25 groupements à filtrer</a:t>
            </a:r>
          </a:p>
          <a:p>
            <a:r>
              <a:rPr lang="fr-FR" sz="1700" dirty="0"/>
              <a:t>3 665 KPIs</a:t>
            </a:r>
          </a:p>
          <a:p>
            <a:r>
              <a:rPr lang="fr-FR" sz="1700" dirty="0"/>
              <a:t>886 930 lignes</a:t>
            </a:r>
          </a:p>
          <a:p>
            <a:pPr lvl="1"/>
            <a:r>
              <a:rPr lang="fr-FR" sz="1400" dirty="0"/>
              <a:t>Dont 91 625 lignes liées aux groupements</a:t>
            </a:r>
          </a:p>
          <a:p>
            <a:r>
              <a:rPr lang="fr-FR" sz="1700" dirty="0"/>
              <a:t>Qualité : aucune ligne vide, aucun doublon (pays × KPI)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D29E269-B607-BE45-F2E5-EB8062EE9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919" y="1929289"/>
            <a:ext cx="4937760" cy="736282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fr-FR" dirty="0"/>
              <a:t>Colonnes</a:t>
            </a:r>
          </a:p>
          <a:p>
            <a:r>
              <a:rPr lang="fr-FR" sz="1700" i="1" dirty="0"/>
              <a:t>69 colonnes au total</a:t>
            </a:r>
          </a:p>
        </p:txBody>
      </p:sp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33F44FB6-BBD9-2EAF-F97A-31E6389B77C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280234141"/>
              </p:ext>
            </p:extLst>
          </p:nvPr>
        </p:nvGraphicFramePr>
        <p:xfrm>
          <a:off x="6218238" y="2857499"/>
          <a:ext cx="4937123" cy="271780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054074">
                  <a:extLst>
                    <a:ext uri="{9D8B030D-6E8A-4147-A177-3AD203B41FA5}">
                      <a16:colId xmlns:a16="http://schemas.microsoft.com/office/drawing/2014/main" val="960341037"/>
                    </a:ext>
                  </a:extLst>
                </a:gridCol>
                <a:gridCol w="1864996">
                  <a:extLst>
                    <a:ext uri="{9D8B030D-6E8A-4147-A177-3AD203B41FA5}">
                      <a16:colId xmlns:a16="http://schemas.microsoft.com/office/drawing/2014/main" val="292238616"/>
                    </a:ext>
                  </a:extLst>
                </a:gridCol>
                <a:gridCol w="1008677">
                  <a:extLst>
                    <a:ext uri="{9D8B030D-6E8A-4147-A177-3AD203B41FA5}">
                      <a16:colId xmlns:a16="http://schemas.microsoft.com/office/drawing/2014/main" val="726263886"/>
                    </a:ext>
                  </a:extLst>
                </a:gridCol>
                <a:gridCol w="1009376">
                  <a:extLst>
                    <a:ext uri="{9D8B030D-6E8A-4147-A177-3AD203B41FA5}">
                      <a16:colId xmlns:a16="http://schemas.microsoft.com/office/drawing/2014/main" val="4237761063"/>
                    </a:ext>
                  </a:extLst>
                </a:gridCol>
              </a:tblGrid>
              <a:tr h="1287379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 1 colonne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2 colonnes </a:t>
                      </a:r>
                    </a:p>
                    <a:p>
                      <a:pPr algn="ctr"/>
                      <a:r>
                        <a:rPr lang="fr-FR" sz="1600" b="1" dirty="0"/>
                        <a:t>pays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2 colonnes 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64 colonnes années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187670"/>
                  </a:ext>
                </a:extLst>
              </a:tr>
              <a:tr h="1430422">
                <a:tc>
                  <a:txBody>
                    <a:bodyPr/>
                    <a:lstStyle/>
                    <a:p>
                      <a:pPr lvl="0" algn="l"/>
                      <a:r>
                        <a:rPr lang="fr-FR" b="0" dirty="0"/>
                        <a:t>0 </a:t>
                      </a:r>
                    </a:p>
                    <a:p>
                      <a:pPr lvl="0" algn="l"/>
                      <a:r>
                        <a:rPr lang="fr-FR" b="0" dirty="0"/>
                        <a:t>à </a:t>
                      </a:r>
                    </a:p>
                    <a:p>
                      <a:pPr lvl="0" algn="l"/>
                      <a:r>
                        <a:rPr lang="fr-FR" b="0" dirty="0"/>
                        <a:t>886929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fr-FR" b="0" dirty="0"/>
                        <a:t>Nom </a:t>
                      </a:r>
                    </a:p>
                    <a:p>
                      <a:pPr lvl="0" algn="l"/>
                      <a:r>
                        <a:rPr lang="fr-FR" b="0" dirty="0"/>
                        <a:t>et </a:t>
                      </a:r>
                    </a:p>
                    <a:p>
                      <a:pPr lvl="0" algn="l"/>
                      <a:r>
                        <a:rPr lang="fr-FR" b="0" dirty="0"/>
                        <a:t>ISO 3166-1 alpha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fr-FR" b="0" dirty="0"/>
                        <a:t>Nom </a:t>
                      </a:r>
                    </a:p>
                    <a:p>
                      <a:pPr lvl="0" algn="l"/>
                      <a:r>
                        <a:rPr lang="fr-FR" b="0" dirty="0"/>
                        <a:t>et</a:t>
                      </a:r>
                    </a:p>
                    <a:p>
                      <a:pPr lvl="0" algn="l"/>
                      <a:r>
                        <a:rPr lang="fr-FR" b="0" dirty="0"/>
                        <a:t>Code 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fr-FR" b="0" dirty="0"/>
                        <a:t>1970 </a:t>
                      </a:r>
                    </a:p>
                    <a:p>
                      <a:pPr lvl="0" algn="l"/>
                      <a:r>
                        <a:rPr lang="fr-FR" b="0" dirty="0"/>
                        <a:t>à</a:t>
                      </a:r>
                    </a:p>
                    <a:p>
                      <a:pPr lvl="0" algn="l"/>
                      <a:r>
                        <a:rPr lang="fr-FR" b="0" dirty="0"/>
                        <a:t>2100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28187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7E15E4-2F44-46BC-6EE2-401489E3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6</a:t>
            </a:fld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1989B77-2455-1B53-964D-B4FD1EA43C44}"/>
              </a:ext>
            </a:extLst>
          </p:cNvPr>
          <p:cNvSpPr txBox="1"/>
          <p:nvPr/>
        </p:nvSpPr>
        <p:spPr>
          <a:xfrm>
            <a:off x="1097280" y="5767228"/>
            <a:ext cx="10058081" cy="44627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300" b="1" dirty="0"/>
              <a:t>Taux de remplissage global : 9,27% </a:t>
            </a:r>
            <a:r>
              <a:rPr lang="fr-FR" sz="2300" i="1" dirty="0"/>
              <a:t>(51 694 825 valeurs possibles)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F5C85B-1C87-1E46-3B62-03FE95B5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0887EB1B-0226-EB40-2F64-C669B9F0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3207147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7813D1-4ECB-B917-6B7F-FFD6D9E82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1513841"/>
          </a:xfrm>
        </p:spPr>
        <p:txBody>
          <a:bodyPr anchor="t">
            <a:normAutofit/>
          </a:bodyPr>
          <a:lstStyle/>
          <a:p>
            <a:r>
              <a:rPr lang="fr-FR" dirty="0"/>
              <a:t>Qualité des données &amp; choix de préparation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CFC9E00-4683-8E3B-B3B9-754DD18F0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90361"/>
            <a:ext cx="3200400" cy="3473280"/>
          </a:xfr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1800" b="1" dirty="0">
                <a:solidFill>
                  <a:schemeClr val="tx1"/>
                </a:solidFill>
              </a:rPr>
              <a:t>Métier :</a:t>
            </a:r>
          </a:p>
          <a:p>
            <a:pPr lvl="1"/>
            <a:r>
              <a:rPr lang="fr-FR" sz="1600" dirty="0">
                <a:solidFill>
                  <a:schemeClr val="tx1"/>
                </a:solidFill>
              </a:rPr>
              <a:t>5 piliers de lecture “marché” :</a:t>
            </a:r>
          </a:p>
          <a:p>
            <a:pPr lvl="2"/>
            <a:r>
              <a:rPr lang="fr-FR" dirty="0">
                <a:solidFill>
                  <a:schemeClr val="tx1"/>
                </a:solidFill>
              </a:rPr>
              <a:t>Taille du marché</a:t>
            </a:r>
          </a:p>
          <a:p>
            <a:pPr lvl="2"/>
            <a:r>
              <a:rPr lang="fr-FR" dirty="0">
                <a:solidFill>
                  <a:schemeClr val="tx1"/>
                </a:solidFill>
              </a:rPr>
              <a:t>Besoin &amp; maturité éducative</a:t>
            </a:r>
          </a:p>
          <a:p>
            <a:pPr lvl="2"/>
            <a:r>
              <a:rPr lang="fr-FR" dirty="0">
                <a:solidFill>
                  <a:schemeClr val="tx1"/>
                </a:solidFill>
              </a:rPr>
              <a:t>Accessibilité &amp; segmentation</a:t>
            </a:r>
          </a:p>
          <a:p>
            <a:pPr lvl="2"/>
            <a:r>
              <a:rPr lang="fr-FR" dirty="0">
                <a:solidFill>
                  <a:schemeClr val="tx1"/>
                </a:solidFill>
              </a:rPr>
              <a:t>Faisabilité</a:t>
            </a:r>
          </a:p>
          <a:p>
            <a:pPr lvl="2"/>
            <a:r>
              <a:rPr lang="fr-FR" dirty="0">
                <a:solidFill>
                  <a:schemeClr val="tx1"/>
                </a:solidFill>
              </a:rPr>
              <a:t>Cadre institutionnel &amp; gouvernance</a:t>
            </a:r>
          </a:p>
          <a:p>
            <a:r>
              <a:rPr lang="fr-FR" sz="1800" b="1" dirty="0">
                <a:solidFill>
                  <a:schemeClr val="tx1"/>
                </a:solidFill>
              </a:rPr>
              <a:t>Data :</a:t>
            </a:r>
          </a:p>
          <a:p>
            <a:pPr lvl="1"/>
            <a:r>
              <a:rPr lang="fr-FR" sz="1600" dirty="0">
                <a:solidFill>
                  <a:schemeClr val="tx1"/>
                </a:solidFill>
              </a:rPr>
              <a:t>Années retenues : taux de remplissage ≥ 30% </a:t>
            </a:r>
          </a:p>
          <a:p>
            <a:pPr lvl="1"/>
            <a:r>
              <a:rPr lang="fr-FR" sz="1600" dirty="0">
                <a:solidFill>
                  <a:schemeClr val="tx1"/>
                </a:solidFill>
              </a:rPr>
              <a:t>Indicateurs retenus : couverture ≥ 80% des pays</a:t>
            </a:r>
            <a:endParaRPr lang="fr-FR" dirty="0">
              <a:solidFill>
                <a:schemeClr val="tx1"/>
              </a:solidFill>
            </a:endParaRPr>
          </a:p>
          <a:p>
            <a:pPr lvl="1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90FFE7A-0615-19A2-B5B0-7359DE025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129962"/>
            <a:ext cx="3200400" cy="638637"/>
          </a:xfrm>
        </p:spPr>
        <p:txBody>
          <a:bodyPr>
            <a:noAutofit/>
          </a:bodyPr>
          <a:lstStyle/>
          <a:p>
            <a:r>
              <a:rPr lang="fr-FR" sz="2000" i="1" dirty="0">
                <a:latin typeface="+mj-lt"/>
              </a:rPr>
              <a:t>Réduction du périmètre d’analyse (métier + data)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58BD838-0879-1259-2FED-C0AC6346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7</a:t>
            </a:fld>
            <a:endParaRPr lang="fr-FR"/>
          </a:p>
        </p:txBody>
      </p:sp>
      <p:pic>
        <p:nvPicPr>
          <p:cNvPr id="9" name="Espace réservé du contenu 8" descr="Une image contenant capture d’écran, texte, Tracé, ligne&#10;&#10;Le contenu généré par l’IA peut être incorrect.">
            <a:extLst>
              <a:ext uri="{FF2B5EF4-FFF2-40B4-BE49-F238E27FC236}">
                <a16:creationId xmlns:a16="http://schemas.microsoft.com/office/drawing/2014/main" id="{46947D25-3022-1FFE-CF08-68FE1652C07F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rcRect l="22648" r="19164"/>
          <a:stretch>
            <a:fillRect/>
          </a:stretch>
        </p:blipFill>
        <p:spPr>
          <a:xfrm>
            <a:off x="4292602" y="594359"/>
            <a:ext cx="7442198" cy="36107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EF6ECE6A-EB7D-5112-1DBF-C43AD9C5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B959120C-EDB7-44D7-DB9C-805A2607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125449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B75A38-C0C4-595C-D5A3-49A216C9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KPIs retenus (sélection finale)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0DF6AF03-E848-F1F2-3194-388BF02691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4838184"/>
              </p:ext>
            </p:extLst>
          </p:nvPr>
        </p:nvGraphicFramePr>
        <p:xfrm>
          <a:off x="1096962" y="1846263"/>
          <a:ext cx="10058400" cy="42976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98553">
                  <a:extLst>
                    <a:ext uri="{9D8B030D-6E8A-4147-A177-3AD203B41FA5}">
                      <a16:colId xmlns:a16="http://schemas.microsoft.com/office/drawing/2014/main" val="2333572511"/>
                    </a:ext>
                  </a:extLst>
                </a:gridCol>
                <a:gridCol w="2444079">
                  <a:extLst>
                    <a:ext uri="{9D8B030D-6E8A-4147-A177-3AD203B41FA5}">
                      <a16:colId xmlns:a16="http://schemas.microsoft.com/office/drawing/2014/main" val="2218820271"/>
                    </a:ext>
                  </a:extLst>
                </a:gridCol>
                <a:gridCol w="5915768">
                  <a:extLst>
                    <a:ext uri="{9D8B030D-6E8A-4147-A177-3AD203B41FA5}">
                      <a16:colId xmlns:a16="http://schemas.microsoft.com/office/drawing/2014/main" val="276612145"/>
                    </a:ext>
                  </a:extLst>
                </a:gridCol>
              </a:tblGrid>
              <a:tr h="300831">
                <a:tc>
                  <a:txBody>
                    <a:bodyPr/>
                    <a:lstStyle/>
                    <a:p>
                      <a:r>
                        <a:rPr lang="fr-FR" sz="1600"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Pilier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b="1" dirty="0"/>
                        <a:t>Ce que ça mesure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753335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NY.GDP.PCAP.PP.CD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Faisabilité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</a:rPr>
                        <a:t>Pouvoir d’achat moyen (PIB/hab. en PPA)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914098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IT.NET.USER.P2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Accessibilité &amp;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Accès réel à Internet (utilisateurs / 100 hab.)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158033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SP.POP.1524.TO.UN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Taille du marché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</a:rPr>
                        <a:t>Vivier cible 15–24 ans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565012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SE.SEC.ENRR.UP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Taille du marché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Taux brut de scolarisation au lycée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836890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SE.TER.ENRR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Taille du marché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</a:rPr>
                        <a:t>Taux brut de scolarisation dans le supérieur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408099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SE.SEC.ENRL.VO.ZS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Taille du marché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</a:rPr>
                        <a:t>Part de l’enseignement professionnel au secondaire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71770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SE.SEC.PRIV.ZS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Taille du marché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</a:rPr>
                        <a:t>Part du privé dans l’enseignement secondaire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2295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SE.XPD.TOTL.GD.ZS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Faisabilité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</a:rPr>
                        <a:t>Dépenses d’éducation (% du PIB)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430343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SE.XPD.TOTL.GB.ZS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Faisabilité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</a:rPr>
                        <a:t>Dépenses d’éducation (% du budget public)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321885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SE.XPD.TERT.ZS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Faisabilité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</a:rPr>
                        <a:t>Dépenses dédiées au supérieur (% éducation)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689974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SE.SCH.LIFE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Taille du marché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</a:rPr>
                        <a:t>Espérance de scolarisation (années)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10130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NY.GDP.MKTP.CD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Faisabilité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</a:rPr>
                        <a:t>Taille de l’économie (PIB total)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338368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r>
                        <a:rPr lang="fr-FR" sz="1400" dirty="0"/>
                        <a:t>SL.UEM.TOTL.ZS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Accessibilité &amp;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</a:rPr>
                        <a:t>Taux de chômage total</a:t>
                      </a:r>
                      <a:endParaRPr lang="fr-FR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365210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F881BF3-C686-819C-7D51-09AC69538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8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D8ED58-DD25-C3F4-B717-F835FB52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248F06-8D9D-A36F-9E1C-D24132A6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3234423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CB01FF-C03C-7FFF-BFD9-DDA035620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 d’agrégations analytique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9D7E350-F551-C0E2-C669-928D8EE5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9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0576BB-A7BE-78BF-5BC8-F09ADDDBA086}"/>
              </a:ext>
            </a:extLst>
          </p:cNvPr>
          <p:cNvSpPr txBox="1"/>
          <p:nvPr/>
        </p:nvSpPr>
        <p:spPr>
          <a:xfrm>
            <a:off x="1097280" y="1927981"/>
            <a:ext cx="71704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Problématiques :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dirty="0"/>
              <a:t>Synthétiser un volume important : 13 KPI × 215 pays × 15 années → 41 925 valeurs à analyser.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dirty="0"/>
              <a:t>Identifier les pays à fort potentiel et repérer ceux en déclin.</a:t>
            </a:r>
          </a:p>
        </p:txBody>
      </p:sp>
      <p:pic>
        <p:nvPicPr>
          <p:cNvPr id="6" name="Image 5" descr="Une image contenant texte, capture d’écran, menu&#10;&#10;Le contenu généré par l’IA peut être incorrect.">
            <a:extLst>
              <a:ext uri="{FF2B5EF4-FFF2-40B4-BE49-F238E27FC236}">
                <a16:creationId xmlns:a16="http://schemas.microsoft.com/office/drawing/2014/main" id="{7B252A8F-845F-44BC-E228-38CC537EC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571" y="1927981"/>
            <a:ext cx="2572109" cy="424421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63055B6-4B96-4703-653F-D7E7FAAB96A3}"/>
              </a:ext>
            </a:extLst>
          </p:cNvPr>
          <p:cNvSpPr txBox="1"/>
          <p:nvPr/>
        </p:nvSpPr>
        <p:spPr>
          <a:xfrm>
            <a:off x="1097280" y="3226598"/>
            <a:ext cx="71704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Solutions</a:t>
            </a:r>
            <a:r>
              <a:rPr lang="fr-FR" sz="2000" b="1" dirty="0"/>
              <a:t> :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dirty="0"/>
              <a:t>Agréger les années : pour chaque (pays, KPI), obtenir une valeur unique représentative.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dirty="0"/>
              <a:t>Calculer une moyenne pondérée favorisant le récent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demi-vie 3 ans </a:t>
            </a:r>
            <a:r>
              <a:rPr lang="fr-FR" sz="1600" dirty="0">
                <a:sym typeface="Wingdings" panose="05000000000000000000" pitchFamily="2" charset="2"/>
              </a:rPr>
              <a:t></a:t>
            </a:r>
            <a:r>
              <a:rPr lang="fr-FR" sz="1600" dirty="0"/>
              <a:t> le poids d’une valeur est divisé par 2 tous les 3 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met en avant les tendances récentes (progression) et pénalise les reculs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04FC33F-EC0B-0273-CFD5-9AF0944D87C5}"/>
              </a:ext>
            </a:extLst>
          </p:cNvPr>
          <p:cNvSpPr txBox="1"/>
          <p:nvPr/>
        </p:nvSpPr>
        <p:spPr>
          <a:xfrm>
            <a:off x="1097280" y="5120641"/>
            <a:ext cx="7170420" cy="67710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Résultat :</a:t>
            </a:r>
          </a:p>
          <a:p>
            <a:r>
              <a:rPr lang="fr-FR" dirty="0"/>
              <a:t>Une base “pays × KPI” comparable, prête pour le </a:t>
            </a:r>
            <a:r>
              <a:rPr lang="fr-FR" dirty="0" err="1"/>
              <a:t>scoring</a:t>
            </a:r>
            <a:r>
              <a:rPr lang="fr-FR" dirty="0"/>
              <a:t> et le classement.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937B6E-C247-0386-9CA0-B8EDB669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F4EAB717-364D-1558-E235-4F28AD175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3617102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81CC5F0-AC25-0984-116A-D42C9361A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 des résultats &amp; prévention des anomalies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2445C62A-5D84-E40C-3E84-2853182339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501496"/>
              </p:ext>
            </p:extLst>
          </p:nvPr>
        </p:nvGraphicFramePr>
        <p:xfrm>
          <a:off x="1097280" y="2153921"/>
          <a:ext cx="10058400" cy="29667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848989">
                  <a:extLst>
                    <a:ext uri="{9D8B030D-6E8A-4147-A177-3AD203B41FA5}">
                      <a16:colId xmlns:a16="http://schemas.microsoft.com/office/drawing/2014/main" val="383501766"/>
                    </a:ext>
                  </a:extLst>
                </a:gridCol>
                <a:gridCol w="832987">
                  <a:extLst>
                    <a:ext uri="{9D8B030D-6E8A-4147-A177-3AD203B41FA5}">
                      <a16:colId xmlns:a16="http://schemas.microsoft.com/office/drawing/2014/main" val="2931871877"/>
                    </a:ext>
                  </a:extLst>
                </a:gridCol>
                <a:gridCol w="6376424">
                  <a:extLst>
                    <a:ext uri="{9D8B030D-6E8A-4147-A177-3AD203B41FA5}">
                      <a16:colId xmlns:a16="http://schemas.microsoft.com/office/drawing/2014/main" val="1109245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Critère de filtrage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Seuil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Raison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1571216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Nombre de KPIs par pays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≥10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Assurer une comparaison robuste (éviter les pays trop incomplets)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17902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SP.POP.1524.TO.UN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≥ P75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Garantir un vivier 15–24 ans suffisamment important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818788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IT.NET.USER.P2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≥ P50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Limiter le risque d’un marché digital peu mature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256579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SE.SEC.ENRR.UP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≥ P50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S’assurer d’un socle lycée significatif (présent &amp; futur)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1718538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SE.TER.ENRR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≥ P50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Vérifier l’adéquation avec la cible université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2474078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NY.GDP.PCAP.PP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≥ P50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Réduire le risque lié au faible pouvoir d’achat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765408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SL.UEM.TOTL.ZS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≤ P50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Écarter les marchés à tension économique forte (chômage élevé)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2256466248"/>
                  </a:ext>
                </a:extLst>
              </a:tr>
            </a:tbl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E818BBE-A69F-9515-60FB-1E0A302EB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10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F95B15-9C44-7348-1C4D-E01ECF33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0BA6AF9-14A1-47C5-9422-52F2D7EF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3591066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C0B6C6-0A60-AE6F-18A5-31E90738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Résultats - pays prioritaires</a:t>
            </a:r>
          </a:p>
        </p:txBody>
      </p:sp>
      <p:pic>
        <p:nvPicPr>
          <p:cNvPr id="7" name="Espace réservé du contenu 6" descr="Une image contenant capture d’écran, carré, Post-it, Rectangle&#10;&#10;Le contenu généré par l’IA peut être incorrect.">
            <a:extLst>
              <a:ext uri="{FF2B5EF4-FFF2-40B4-BE49-F238E27FC236}">
                <a16:creationId xmlns:a16="http://schemas.microsoft.com/office/drawing/2014/main" id="{584E1A0A-03E1-24F6-0244-AF1AAAB139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0" y="2313384"/>
            <a:ext cx="10058399" cy="3207812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87C6D5B-3F5F-B053-5281-CB50A1A69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6962" y="1737360"/>
            <a:ext cx="10058717" cy="736282"/>
          </a:xfrm>
        </p:spPr>
        <p:txBody>
          <a:bodyPr/>
          <a:lstStyle/>
          <a:p>
            <a:r>
              <a:rPr lang="fr-FR" b="1" i="1" dirty="0">
                <a:latin typeface="+mj-lt"/>
              </a:rPr>
              <a:t>Lecture :</a:t>
            </a:r>
            <a:r>
              <a:rPr lang="fr-FR" i="1" dirty="0">
                <a:latin typeface="+mj-lt"/>
              </a:rPr>
              <a:t> scores normalisés par KPI (vert = favorable, rouge = défavorable)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72F5B88-3620-81C9-F839-6C67EAB2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11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83E4424-862A-6BBE-BBE4-2924AB958CFC}"/>
              </a:ext>
            </a:extLst>
          </p:cNvPr>
          <p:cNvSpPr txBox="1"/>
          <p:nvPr/>
        </p:nvSpPr>
        <p:spPr>
          <a:xfrm>
            <a:off x="1096960" y="5521195"/>
            <a:ext cx="4884740" cy="6463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fr-FR" b="1" dirty="0"/>
              <a:t>Cible 1 </a:t>
            </a:r>
            <a:r>
              <a:rPr lang="fr-FR" b="1" u="sng" dirty="0"/>
              <a:t>: Allemagne </a:t>
            </a:r>
            <a:r>
              <a:rPr lang="fr-FR" b="1" dirty="0"/>
              <a:t>- marché mature, faible risque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9EF618D-9813-27DB-A1F6-28863C716F50}"/>
              </a:ext>
            </a:extLst>
          </p:cNvPr>
          <p:cNvSpPr txBox="1"/>
          <p:nvPr/>
        </p:nvSpPr>
        <p:spPr>
          <a:xfrm>
            <a:off x="6210301" y="5521196"/>
            <a:ext cx="4944899" cy="6463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Cible 2 : </a:t>
            </a:r>
            <a:r>
              <a:rPr lang="fr-FR" b="1" u="sng" dirty="0"/>
              <a:t>Arabie Saoudite </a:t>
            </a:r>
            <a:r>
              <a:rPr lang="fr-FR" b="1" dirty="0"/>
              <a:t>— </a:t>
            </a:r>
            <a:r>
              <a:rPr lang="fr-FR" b="1" i="1" dirty="0"/>
              <a:t>fort potentiel, bonne solvabilité</a:t>
            </a:r>
            <a:endParaRPr lang="fr-FR" b="1" dirty="0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21202E0B-B1E4-EC47-585A-81CBA053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13" name="Espace réservé de la date 12">
            <a:extLst>
              <a:ext uri="{FF2B5EF4-FFF2-40B4-BE49-F238E27FC236}">
                <a16:creationId xmlns:a16="http://schemas.microsoft.com/office/drawing/2014/main" id="{8E7665C0-4D5B-6721-A093-AD2AA563A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1244690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131D8-0B3E-2EC0-15E2-6BE447D95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0C9FFD-D574-9BBC-B83F-C0B9CFF8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Comment utiliser </a:t>
            </a:r>
            <a:r>
              <a:rPr lang="fr-FR" dirty="0" err="1"/>
              <a:t>EdStats</a:t>
            </a:r>
            <a:r>
              <a:rPr lang="fr-FR" dirty="0"/>
              <a:t> pour décider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36766F-44FC-5D29-9C75-D2FFDC429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ce que ça permet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EF4767D-4A78-A4F4-DEC5-A517AD3A8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Ce que ça ne permet pas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7E6B67F5-C72E-1F83-325B-2FDB1A5FE10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355600" indent="-355600" fontAlgn="t">
              <a:buBlip>
                <a:blip r:embed="rId2"/>
              </a:buBlip>
            </a:pPr>
            <a:r>
              <a:rPr lang="fr-FR" sz="1800" dirty="0"/>
              <a:t>Garantir des données à jour pour tous les pays</a:t>
            </a:r>
          </a:p>
          <a:p>
            <a:pPr marL="355600" indent="-355600" fontAlgn="t">
              <a:buBlip>
                <a:blip r:embed="rId2"/>
              </a:buBlip>
            </a:pPr>
            <a:r>
              <a:rPr lang="fr-FR" sz="1800" dirty="0"/>
              <a:t>Garantir une complétude homogène (valeurs manquantes)</a:t>
            </a:r>
          </a:p>
          <a:p>
            <a:pPr marL="355600" indent="-355600" fontAlgn="t">
              <a:buBlip>
                <a:blip r:embed="rId2"/>
              </a:buBlip>
            </a:pPr>
            <a:r>
              <a:rPr lang="fr-FR" sz="1800" dirty="0"/>
              <a:t>Remplacer une étude de marché (concurrence, prix, CAC, canaux…)</a:t>
            </a:r>
          </a:p>
          <a:p>
            <a:pPr marL="355600" indent="-355600" fontAlgn="t">
              <a:buBlip>
                <a:blip r:embed="rId2"/>
              </a:buBlip>
            </a:pPr>
            <a:r>
              <a:rPr lang="fr-FR" sz="1800" dirty="0"/>
              <a:t>Définir à elle seule une stratégie d’expansion (décision finale)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1B5B8FC-3778-E39E-AB4F-90340EAB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12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2CC7D2DC-9A01-AD4F-4660-C39625F4F7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55600" indent="-355600">
              <a:buBlip>
                <a:blip r:embed="rId3"/>
              </a:buBlip>
            </a:pPr>
            <a:r>
              <a:rPr lang="fr-FR" sz="1800" dirty="0"/>
              <a:t>Comparer les pays sur des KPI macro standardisés</a:t>
            </a:r>
          </a:p>
          <a:p>
            <a:pPr marL="355600" indent="-355600">
              <a:buBlip>
                <a:blip r:embed="rId3"/>
              </a:buBlip>
            </a:pPr>
            <a:r>
              <a:rPr lang="fr-FR" sz="1800" dirty="0"/>
              <a:t>Mettre en évidence des tendances (évolution sur plusieurs années)</a:t>
            </a:r>
          </a:p>
          <a:p>
            <a:pPr marL="355600" indent="-355600">
              <a:buBlip>
                <a:blip r:embed="rId3"/>
              </a:buBlip>
            </a:pPr>
            <a:r>
              <a:rPr lang="fr-FR" sz="1800" dirty="0"/>
              <a:t>Repérer des corrélations utiles pour cadrer une hypothèse marché</a:t>
            </a:r>
          </a:p>
          <a:p>
            <a:pPr marL="355600" indent="-355600">
              <a:buBlip>
                <a:blip r:embed="rId3"/>
              </a:buBlip>
            </a:pPr>
            <a:r>
              <a:rPr lang="fr-FR" sz="1800" dirty="0"/>
              <a:t>Construire une short-</a:t>
            </a:r>
            <a:r>
              <a:rPr lang="fr-FR" sz="1800" dirty="0" err="1"/>
              <a:t>list</a:t>
            </a:r>
            <a:r>
              <a:rPr lang="fr-FR" sz="1800" dirty="0"/>
              <a:t> de pays à investiguer</a:t>
            </a:r>
          </a:p>
        </p:txBody>
      </p:sp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E1FA68E9-2CEA-BEA7-72DF-231605100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19" name="Espace réservé de la date 18">
            <a:extLst>
              <a:ext uri="{FF2B5EF4-FFF2-40B4-BE49-F238E27FC236}">
                <a16:creationId xmlns:a16="http://schemas.microsoft.com/office/drawing/2014/main" id="{327516E2-2E2E-430A-8574-9D97C997A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2431801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8E4943-F2E6-08B2-93AB-CE32A431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C659CF-875F-7FAC-5470-40CD19B29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95500"/>
            <a:ext cx="10058400" cy="3773594"/>
          </a:xfrm>
        </p:spPr>
        <p:txBody>
          <a:bodyPr>
            <a:normAutofit/>
          </a:bodyPr>
          <a:lstStyle/>
          <a:p>
            <a:r>
              <a:rPr lang="fr-FR" sz="2500" b="1" dirty="0"/>
              <a:t>Insight :</a:t>
            </a:r>
            <a:r>
              <a:rPr lang="fr-FR" sz="2500" dirty="0"/>
              <a:t> </a:t>
            </a:r>
            <a:r>
              <a:rPr lang="fr-FR" sz="2500" dirty="0" err="1"/>
              <a:t>EdStats</a:t>
            </a:r>
            <a:r>
              <a:rPr lang="fr-FR" sz="2500" dirty="0"/>
              <a:t> compare et met en évidence une short-</a:t>
            </a:r>
            <a:r>
              <a:rPr lang="fr-FR" sz="2500" dirty="0" err="1"/>
              <a:t>list</a:t>
            </a:r>
            <a:r>
              <a:rPr lang="fr-FR" sz="2500" dirty="0"/>
              <a:t> de pays</a:t>
            </a:r>
          </a:p>
          <a:p>
            <a:r>
              <a:rPr lang="fr-FR" sz="2500" b="1" dirty="0"/>
              <a:t>Décision :</a:t>
            </a:r>
            <a:r>
              <a:rPr lang="fr-FR" sz="2500" dirty="0"/>
              <a:t> s’en servir pour </a:t>
            </a:r>
            <a:r>
              <a:rPr lang="fr-FR" sz="2500" dirty="0" err="1"/>
              <a:t>pré-sélectionner</a:t>
            </a:r>
            <a:r>
              <a:rPr lang="fr-FR" sz="2500" dirty="0"/>
              <a:t> et prioriser</a:t>
            </a:r>
          </a:p>
          <a:p>
            <a:r>
              <a:rPr lang="fr-FR" sz="2500" b="1" dirty="0"/>
              <a:t>Suite :</a:t>
            </a:r>
            <a:r>
              <a:rPr lang="fr-FR" sz="2500" dirty="0"/>
              <a:t> étude de marché + données internes pour confirmer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193AC7-C87D-1678-4B08-37E3B72C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13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DD9A54-C598-6DC6-CF07-2A9D09812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6E22292-0000-539B-2C1F-AD37C08A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2912511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F453B9-6F2B-061E-7199-13ED75BFD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 !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6343D6-AD8D-2F2E-DDCD-5B62F7617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Questions 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F44C71D-AEA4-C8A8-1F90-EAEE53BCE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1027-7B96-45C9-88F9-B14195201B08}" type="slidenum">
              <a:rPr lang="fr-FR" smtClean="0"/>
              <a:t>14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3E0182-D28B-721D-E924-6A06B280B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Paul-Alexandre Annonay - Formation Data Engineer (OpenClassrooms)</a:t>
            </a:r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C69241B3-CEBD-7184-6B13-9104E0A4B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851131626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977</TotalTime>
  <Words>1164</Words>
  <Application>Microsoft Office PowerPoint</Application>
  <PresentationFormat>Grand écran</PresentationFormat>
  <Paragraphs>214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Wingdings</vt:lpstr>
      <vt:lpstr>Rétrospective</vt:lpstr>
      <vt:lpstr>Analyse exploratoire – Expansion a l’international pour Academy</vt:lpstr>
      <vt:lpstr>Sommaire</vt:lpstr>
      <vt:lpstr>Contexte &amp; enjeu métier</vt:lpstr>
      <vt:lpstr>Questions métier</vt:lpstr>
      <vt:lpstr>Données utilisées (EdStats : panorama)</vt:lpstr>
      <vt:lpstr>Structure de la table principale (EdStatsData)</vt:lpstr>
      <vt:lpstr>Qualité des données &amp; choix de préparation</vt:lpstr>
      <vt:lpstr>KPIs retenus (sélection finale)</vt:lpstr>
      <vt:lpstr>Stratégie d’agrégations analytique</vt:lpstr>
      <vt:lpstr>Filtrage des résultats &amp; prévention des anomalies</vt:lpstr>
      <vt:lpstr>Résultats - pays prioritaires</vt:lpstr>
      <vt:lpstr>Comment utiliser EdStats pour décider</vt:lpstr>
      <vt:lpstr>Conclusion</vt:lpstr>
      <vt:lpstr>Merci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Paul-Alexandre ANNONAY</dc:creator>
  <cp:lastModifiedBy>Paul-Alexandre ANNONAY</cp:lastModifiedBy>
  <cp:revision>8</cp:revision>
  <dcterms:created xsi:type="dcterms:W3CDTF">2026-01-23T00:16:55Z</dcterms:created>
  <dcterms:modified xsi:type="dcterms:W3CDTF">2026-01-29T02:36:10Z</dcterms:modified>
</cp:coreProperties>
</file>