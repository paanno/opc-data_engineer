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5143500" type="screen16x9"/>
  <p:notesSz cx="6858000" cy="9144000"/>
  <p:embeddedFontLs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Montserrat" panose="000005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20" y="16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fd6a1ad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fd6a1ad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fadf635cc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fadf635cc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efd6a1ad4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efd6a1ad4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fd948d0ee4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fd948d0ee4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245a1bb278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245a1bb278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245a1bb278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245a1bb278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245a1bb278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245a1bb278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efd6a1ad4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efd6a1ad4f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efd6a1ad4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efd6a1ad4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fadf635ccc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fadf635ccc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fd6a1ad4f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fd6a1ad4f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fadf635ccc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fadf635ccc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efd6a1ad4f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efd6a1ad4f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fadf635ccc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fadf635ccc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AUDIT : </a:t>
            </a:r>
            <a:br>
              <a:rPr lang="fr"/>
            </a:br>
            <a:r>
              <a:rPr lang="fr"/>
              <a:t>Erreur sur le Cube OLAP </a:t>
            </a:r>
            <a:endParaRPr/>
          </a:p>
        </p:txBody>
      </p:sp>
      <p:pic>
        <p:nvPicPr>
          <p:cNvPr id="135" name="Google Shape;13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6750" y="3514725"/>
            <a:ext cx="1733550" cy="13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Présentation de la mission</a:t>
            </a:r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spcAft>
                <a:spcPts val="1200"/>
              </a:spcAft>
            </a:pPr>
            <a:r>
              <a:rPr lang="fr-FR" dirty="0"/>
              <a:t>Analyser les incohérences de chiffre d’affaires</a:t>
            </a:r>
          </a:p>
          <a:p>
            <a:pPr marL="285750" indent="-285750">
              <a:spcAft>
                <a:spcPts val="1200"/>
              </a:spcAft>
            </a:pPr>
            <a:endParaRPr lang="fr-FR" dirty="0"/>
          </a:p>
          <a:p>
            <a:pPr marL="285750" indent="-285750">
              <a:spcAft>
                <a:spcPts val="1200"/>
              </a:spcAft>
            </a:pPr>
            <a:r>
              <a:rPr lang="fr-FR" dirty="0"/>
              <a:t>Reconstituer et documenter le modèle de données</a:t>
            </a:r>
          </a:p>
          <a:p>
            <a:pPr marL="285750" indent="-285750">
              <a:spcAft>
                <a:spcPts val="1200"/>
              </a:spcAft>
            </a:pPr>
            <a:endParaRPr lang="fr-FR" dirty="0"/>
          </a:p>
          <a:p>
            <a:pPr marL="285750" indent="-285750">
              <a:spcAft>
                <a:spcPts val="1200"/>
              </a:spcAft>
            </a:pPr>
            <a:r>
              <a:rPr lang="fr-FR" dirty="0"/>
              <a:t>Valider les chiffres dans un prototype SQL</a:t>
            </a:r>
          </a:p>
          <a:p>
            <a:pPr marL="285750" indent="-285750">
              <a:spcAft>
                <a:spcPts val="1200"/>
              </a:spcAft>
            </a:pPr>
            <a:endParaRPr lang="fr-FR" dirty="0"/>
          </a:p>
          <a:p>
            <a:pPr marL="285750" indent="-285750">
              <a:spcAft>
                <a:spcPts val="1200"/>
              </a:spcAft>
            </a:pPr>
            <a:r>
              <a:rPr lang="fr-FR" dirty="0"/>
              <a:t>Etudier les logs et formuler des recommandations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 de la base de données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88"/>
              <a:t>Architecture de l’entreprise</a:t>
            </a:r>
            <a:endParaRPr sz="1888"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152400" lvl="0" indent="-28575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Inter"/>
              <a:buChar char="●"/>
            </a:pPr>
            <a:endParaRPr dirty="0"/>
          </a:p>
        </p:txBody>
      </p:sp>
      <p:pic>
        <p:nvPicPr>
          <p:cNvPr id="2" name="Image 1" descr="https://s3.eu-west-1.amazonaws.com/course.oc-static.com/projects/922_Data+Engineer/922_P4/Sche%CC%81ma+architecture+.jpg">
            <a:extLst>
              <a:ext uri="{FF2B5EF4-FFF2-40B4-BE49-F238E27FC236}">
                <a16:creationId xmlns:a16="http://schemas.microsoft.com/office/drawing/2014/main" id="{3A787A0B-B727-1B9D-E820-B20B5F076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150" y="1857952"/>
            <a:ext cx="598170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 de la base de données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88"/>
              <a:t>Dictionnaire des données du fichier OLAP et schéma relationnel</a:t>
            </a:r>
            <a:endParaRPr sz="1888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2F7C0ED-72E8-DC43-6B0A-68E80B409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62" y="1711452"/>
            <a:ext cx="4872055" cy="172059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B3E872A-1E50-78FF-5999-B329A0253EE3}"/>
              </a:ext>
            </a:extLst>
          </p:cNvPr>
          <p:cNvSpPr/>
          <p:nvPr/>
        </p:nvSpPr>
        <p:spPr>
          <a:xfrm>
            <a:off x="5858454" y="3029528"/>
            <a:ext cx="1754909" cy="1237673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AEAB401-C3B9-D4D8-4349-9A0DF3ECD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5417" y="2884635"/>
            <a:ext cx="3200982" cy="18405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Présentation du prototype de BDD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88"/>
              <a:t>Explication de la base de données</a:t>
            </a:r>
            <a:endParaRPr sz="1888"/>
          </a:p>
        </p:txBody>
      </p:sp>
      <p:sp>
        <p:nvSpPr>
          <p:cNvPr id="165" name="Google Shape;165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152400" lvl="0" indent="-28575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Inter"/>
              <a:buChar char="●"/>
            </a:pPr>
            <a:r>
              <a:rPr lang="fr-FR" dirty="0"/>
              <a:t>Unification de toute les dates en INT</a:t>
            </a:r>
          </a:p>
          <a:p>
            <a:pPr marL="457200" marR="152400" lvl="0" indent="-28575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Inter"/>
              <a:buChar char="●"/>
            </a:pPr>
            <a:r>
              <a:rPr lang="fr-FR" dirty="0"/>
              <a:t>Colonnes de calendrier calculée sur </a:t>
            </a:r>
            <a:r>
              <a:rPr lang="fr-FR" dirty="0" err="1"/>
              <a:t>date_id</a:t>
            </a:r>
            <a:endParaRPr lang="fr-FR" dirty="0"/>
          </a:p>
          <a:p>
            <a:pPr marL="457200" marR="152400" lvl="0" indent="-28575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Inter"/>
              <a:buChar char="●"/>
            </a:pPr>
            <a:r>
              <a:rPr lang="fr-FR" dirty="0" err="1"/>
              <a:t>produits.ean</a:t>
            </a:r>
            <a:r>
              <a:rPr lang="fr-FR" dirty="0"/>
              <a:t> : DOUBLE</a:t>
            </a:r>
          </a:p>
          <a:p>
            <a:pPr marL="457200" marR="152400" lvl="0" indent="-28575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Inter"/>
              <a:buChar char="●"/>
            </a:pPr>
            <a:r>
              <a:rPr lang="fr-FR" dirty="0"/>
              <a:t>Mail et pseudo employé calculé</a:t>
            </a:r>
          </a:p>
          <a:p>
            <a:pPr marL="457200" marR="152400" lvl="0" indent="-28575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Inter"/>
              <a:buChar char="●"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006A249-707D-FCFD-0515-9641BAA01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4605" y="1567550"/>
            <a:ext cx="3111795" cy="2911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Résultat des requêtes SQL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88"/>
              <a:t>Le chiffre d’affaires total pour le 14 Août</a:t>
            </a:r>
            <a:endParaRPr sz="1888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0A6719DB-EE68-8F85-4857-0578C7AFC3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C6FB080-B529-8864-8325-0C1307D2926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FC10D8A-6D84-0620-0220-0B7BA0BF6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501" y="1567550"/>
            <a:ext cx="3403200" cy="120031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9DCAC60-9FF4-539E-7B08-F61EC4CEF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3220" y="1567550"/>
            <a:ext cx="3403180" cy="864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Résultat des requêtes SQL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88"/>
              <a:t>Le chiffre d’affaires par client pour le top 10 des clients</a:t>
            </a:r>
            <a:endParaRPr sz="1888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6FAF3E9-497F-C9D3-737C-12C210EAA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2BD4FFE-F851-5FA1-9F5F-15904E82BB4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7C5F8F3-EA4C-DF43-8EA7-9F12390DF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499" y="1567550"/>
            <a:ext cx="3403787" cy="172059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3021046-D9D6-B4A2-AAA2-8AE590A804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3221" y="1567550"/>
            <a:ext cx="3403179" cy="19012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/>
              <a:t>Résultat des requêtes SQL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1850"/>
              <a:t>Le chiffre d’affaires encaissé par employé</a:t>
            </a:r>
            <a:endParaRPr sz="18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C1EB5CA5-3D6D-9723-761F-2AD1B5EA7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EB5010-A7E1-507D-B97A-F3EB084128D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B370919-C30B-A3B1-F2A4-D93D77FAF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499" y="1567550"/>
            <a:ext cx="3403199" cy="168654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9BCE8A2-AD64-0672-C46D-C605BE9FB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3221" y="1567551"/>
            <a:ext cx="3401561" cy="24872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 des logs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Dictionnaire des données et explications</a:t>
            </a:r>
            <a:endParaRPr/>
          </a:p>
        </p:txBody>
      </p:sp>
      <p:sp>
        <p:nvSpPr>
          <p:cNvPr id="189" name="Google Shape;189;p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/>
            <a:r>
              <a:rPr lang="fr" dirty="0"/>
              <a:t>Nombre de logs : 207 489</a:t>
            </a:r>
            <a:endParaRPr dirty="0"/>
          </a:p>
          <a:p>
            <a:pPr marL="285750" indent="-285750">
              <a:spcBef>
                <a:spcPts val="1200"/>
              </a:spcBef>
            </a:pPr>
            <a:r>
              <a:rPr lang="fr" dirty="0"/>
              <a:t>Nombre de logs par action</a:t>
            </a:r>
          </a:p>
          <a:p>
            <a:pPr marL="285750" indent="-285750">
              <a:spcBef>
                <a:spcPts val="1200"/>
              </a:spcBef>
            </a:pPr>
            <a:endParaRPr lang="fr" dirty="0"/>
          </a:p>
          <a:p>
            <a:pPr marL="285750" indent="-285750">
              <a:spcBef>
                <a:spcPts val="1200"/>
              </a:spcBef>
              <a:spcAft>
                <a:spcPts val="1200"/>
              </a:spcAft>
            </a:pPr>
            <a:endParaRPr lang="fr-FR" dirty="0"/>
          </a:p>
          <a:p>
            <a:pPr marL="285750" indent="-285750">
              <a:spcBef>
                <a:spcPts val="1200"/>
              </a:spcBef>
              <a:spcAft>
                <a:spcPts val="1200"/>
              </a:spcAft>
            </a:pPr>
            <a:r>
              <a:rPr lang="fr-FR" dirty="0"/>
              <a:t>Tables affectées:</a:t>
            </a:r>
          </a:p>
          <a:p>
            <a:pPr marL="742950" lvl="1" indent="-285750">
              <a:spcBef>
                <a:spcPts val="1200"/>
              </a:spcBef>
              <a:spcAft>
                <a:spcPts val="1200"/>
              </a:spcAft>
            </a:pPr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F4B5684-D548-F9C9-399D-83615CBE196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fr-FR" dirty="0"/>
              <a:t>Quelle modification sur quelle table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marL="146050" indent="0">
              <a:buNone/>
            </a:pPr>
            <a:endParaRPr lang="fr-FR" dirty="0"/>
          </a:p>
          <a:p>
            <a:r>
              <a:rPr lang="fr-FR" dirty="0"/>
              <a:t>5 lignes INSERT par vente pour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1385D97-F1B9-A3CB-5CDC-38E230273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119" y="3598893"/>
            <a:ext cx="1754581" cy="77981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82758D3-6229-EA46-EFFA-3EA7EC2C92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6119" y="2405358"/>
            <a:ext cx="1754581" cy="71815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305809F-4855-AC28-F32B-3D98E4B702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1659" y="1981117"/>
            <a:ext cx="1714741" cy="590633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4E80116E-FAD7-689B-7708-CA4E0C4C6C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1659" y="3196155"/>
            <a:ext cx="1714762" cy="512458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0CC4D4E3-E020-C85A-CBC7-74C0E7AE75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7499" y="2405358"/>
            <a:ext cx="1544489" cy="405755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E9F25CE6-DA9B-598B-1867-40EDFCAA53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7499" y="3613306"/>
            <a:ext cx="1544489" cy="365490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437EBD45-29CA-2DFE-C24C-C1691AA710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3222" y="1981118"/>
            <a:ext cx="1625978" cy="593306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B9C79016-BD0A-2061-B6F3-B8C753DBBE6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1638" y="3931566"/>
            <a:ext cx="1714762" cy="447141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C5100D5A-08CD-6E3E-C985-7EFBE1EB1DD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3220" y="3926200"/>
            <a:ext cx="1625980" cy="447142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0CB90AA0-2025-6608-3D4D-D5E25DABECA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3220" y="3189513"/>
            <a:ext cx="1625980" cy="5124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Compréhension des problèmes sur la base des logs</a:t>
            </a:r>
            <a:endParaRPr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7D5C9E4-A77C-B443-6B50-EC4D22FFC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7500" y="1567550"/>
            <a:ext cx="4800900" cy="2911200"/>
          </a:xfrm>
        </p:spPr>
        <p:txBody>
          <a:bodyPr/>
          <a:lstStyle/>
          <a:p>
            <a:r>
              <a:rPr lang="fr-FR" dirty="0"/>
              <a:t>Il y a eu des ventes enregistrées le 15/08/2024 pour la veille </a:t>
            </a:r>
            <a:r>
              <a:rPr lang="fr-FR" dirty="0">
                <a:sym typeface="Wingdings" panose="05000000000000000000" pitchFamily="2" charset="2"/>
              </a:rPr>
              <a:t> décalage de CA entre le 14 et le 16.</a:t>
            </a:r>
          </a:p>
          <a:p>
            <a:endParaRPr lang="fr-FR" dirty="0">
              <a:sym typeface="Wingdings" panose="05000000000000000000" pitchFamily="2" charset="2"/>
            </a:endParaRPr>
          </a:p>
          <a:p>
            <a:r>
              <a:rPr lang="fr-FR" dirty="0">
                <a:sym typeface="Wingdings" panose="05000000000000000000" pitchFamily="2" charset="2"/>
              </a:rPr>
              <a:t>!!! Formats des prix modifiés : 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confusion DATE ou REAL</a:t>
            </a:r>
          </a:p>
          <a:p>
            <a:pPr lvl="1"/>
            <a:endParaRPr lang="fr-FR" dirty="0">
              <a:sym typeface="Wingdings" panose="05000000000000000000" pitchFamily="2" charset="2"/>
            </a:endParaRPr>
          </a:p>
          <a:p>
            <a:pPr marL="444500" indent="-285750"/>
            <a:r>
              <a:rPr lang="fr-FR" dirty="0" err="1">
                <a:sym typeface="Wingdings" panose="05000000000000000000" pitchFamily="2" charset="2"/>
              </a:rPr>
              <a:t>id_user</a:t>
            </a:r>
            <a:r>
              <a:rPr lang="fr-FR" dirty="0">
                <a:sym typeface="Wingdings" panose="05000000000000000000" pitchFamily="2" charset="2"/>
              </a:rPr>
              <a:t> : le plus rencontrer dans les logs absents de la table </a:t>
            </a:r>
            <a:r>
              <a:rPr lang="fr-FR" dirty="0" err="1">
                <a:sym typeface="Wingdings" panose="05000000000000000000" pitchFamily="2" charset="2"/>
              </a:rPr>
              <a:t>employe</a:t>
            </a:r>
            <a:r>
              <a:rPr lang="fr-FR" dirty="0">
                <a:sym typeface="Wingdings" panose="05000000000000000000" pitchFamily="2" charset="2"/>
              </a:rPr>
              <a:t>  user technique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22F1966-1983-759D-368F-DD84CBA4243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306751" y="1567550"/>
            <a:ext cx="2029670" cy="2911200"/>
          </a:xfrm>
        </p:spPr>
        <p:txBody>
          <a:bodyPr/>
          <a:lstStyle/>
          <a:p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307A471-977E-5128-FE25-D6BB727D6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200" y="1567550"/>
            <a:ext cx="2029669" cy="45633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8FD8C43-400B-5A99-BA5F-972C6F6FAA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6302" y="2659294"/>
            <a:ext cx="2029649" cy="92528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4571D7F-3549-12F8-E45E-5364871EDF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6302" y="2142188"/>
            <a:ext cx="2029649" cy="39309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E3170B2-FC27-1927-B112-46F9E30BA0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6302" y="3708587"/>
            <a:ext cx="2030343" cy="4363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Recommandations pour l’entreprise</a:t>
            </a:r>
            <a:endParaRPr dirty="0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6372EBFA-4AD9-9A45-B9AD-366BD858A6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146050" indent="0">
              <a:buNone/>
            </a:pPr>
            <a:r>
              <a:rPr lang="fr-FR" b="1" dirty="0"/>
              <a:t>Actions à mettre en place :</a:t>
            </a:r>
          </a:p>
          <a:p>
            <a:r>
              <a:rPr lang="fr-FR" b="1" dirty="0"/>
              <a:t>Définir une règle de clôture journalière</a:t>
            </a:r>
            <a:r>
              <a:rPr lang="fr-FR" dirty="0"/>
              <a:t> des données avant diffusion dans Power BI</a:t>
            </a:r>
          </a:p>
          <a:p>
            <a:r>
              <a:rPr lang="fr-FR" b="1" dirty="0"/>
              <a:t>Ajouter une date d’intégration technique</a:t>
            </a:r>
            <a:r>
              <a:rPr lang="fr-FR" dirty="0"/>
              <a:t> dans la table des ventes</a:t>
            </a:r>
          </a:p>
          <a:p>
            <a:r>
              <a:rPr lang="fr-FR" b="1" dirty="0"/>
              <a:t>Distinguer les données provisoires des données clôturées</a:t>
            </a:r>
            <a:r>
              <a:rPr lang="fr-FR" dirty="0"/>
              <a:t> dans les </a:t>
            </a:r>
            <a:r>
              <a:rPr lang="fr-FR" dirty="0" err="1"/>
              <a:t>reportings</a:t>
            </a:r>
            <a:endParaRPr lang="fr-FR" dirty="0"/>
          </a:p>
          <a:p>
            <a:r>
              <a:rPr lang="fr-FR" b="1" dirty="0"/>
              <a:t>Renforcer la traçabilité</a:t>
            </a:r>
            <a:r>
              <a:rPr lang="fr-FR" dirty="0"/>
              <a:t> avec des logs plus détaillés</a:t>
            </a:r>
          </a:p>
          <a:p>
            <a:r>
              <a:rPr lang="fr-FR" b="1" dirty="0"/>
              <a:t>Renforcer les contraintes d’intégrité</a:t>
            </a:r>
            <a:r>
              <a:rPr lang="fr-FR" dirty="0"/>
              <a:t> dans la base (FK, NOT NULL, CHECK)</a:t>
            </a:r>
          </a:p>
          <a:p>
            <a:r>
              <a:rPr lang="fr-FR" b="1" dirty="0"/>
              <a:t>Documenter les règles de chargement et de diffusion</a:t>
            </a:r>
            <a:r>
              <a:rPr lang="fr-FR" dirty="0"/>
              <a:t> des indicateurs</a:t>
            </a:r>
          </a:p>
          <a:p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6D98BEB-98BF-3A60-1817-8F98F5F9871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fr" sz="1400" dirty="0"/>
              <a:t>Prototype :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F6D9750-EC3F-BEC9-D58A-1665F3C18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042" y="2229348"/>
            <a:ext cx="1755557" cy="22494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Recommandations pour l’entreprise</a:t>
            </a:r>
            <a:br>
              <a:rPr lang="fr"/>
            </a:br>
            <a:r>
              <a:rPr lang="fr" sz="1850"/>
              <a:t>Avantages et inconvénients de la solution</a:t>
            </a:r>
            <a:endParaRPr sz="1850"/>
          </a:p>
        </p:txBody>
      </p:sp>
      <p:sp>
        <p:nvSpPr>
          <p:cNvPr id="206" name="Google Shape;206;p2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/>
            <a:r>
              <a:rPr lang="fr" dirty="0"/>
              <a:t>Avantages : </a:t>
            </a:r>
          </a:p>
          <a:p>
            <a:pPr marL="742950" lvl="1" indent="-285750"/>
            <a:r>
              <a:rPr lang="fr-FR" dirty="0"/>
              <a:t>stabilisation du chiffre d’affaires historique</a:t>
            </a:r>
          </a:p>
          <a:p>
            <a:pPr marL="742950" lvl="1" indent="-285750"/>
            <a:r>
              <a:rPr lang="fr-FR" dirty="0"/>
              <a:t>meilleure </a:t>
            </a:r>
            <a:r>
              <a:rPr lang="fr-FR" b="1" dirty="0"/>
              <a:t>compréhension des écarts</a:t>
            </a:r>
            <a:r>
              <a:rPr lang="fr-FR" dirty="0"/>
              <a:t> entre ventes et chargements</a:t>
            </a:r>
          </a:p>
          <a:p>
            <a:pPr marL="742950" lvl="1" indent="-285750"/>
            <a:r>
              <a:rPr lang="fr-FR" b="1" dirty="0"/>
              <a:t>investigation plus rapide</a:t>
            </a:r>
            <a:r>
              <a:rPr lang="fr-FR" dirty="0"/>
              <a:t> en cas d’anomalie</a:t>
            </a:r>
          </a:p>
          <a:p>
            <a:pPr marL="742950" lvl="1" indent="-285750"/>
            <a:r>
              <a:rPr lang="fr-FR" dirty="0"/>
              <a:t>meilleure </a:t>
            </a:r>
            <a:r>
              <a:rPr lang="fr-FR" b="1" dirty="0"/>
              <a:t>fiabilité des indicateurs Power BI</a:t>
            </a:r>
          </a:p>
          <a:p>
            <a:pPr marL="742950" lvl="1" indent="-285750"/>
            <a:r>
              <a:rPr lang="fr-FR" dirty="0"/>
              <a:t>renforcement de la </a:t>
            </a:r>
            <a:r>
              <a:rPr lang="fr-FR" b="1" dirty="0"/>
              <a:t>qualité</a:t>
            </a:r>
            <a:r>
              <a:rPr lang="fr-FR" dirty="0"/>
              <a:t> et de la </a:t>
            </a:r>
            <a:r>
              <a:rPr lang="fr-FR" b="1" dirty="0"/>
              <a:t>traçabilité</a:t>
            </a:r>
            <a:r>
              <a:rPr lang="fr-FR" dirty="0"/>
              <a:t> des données</a:t>
            </a:r>
          </a:p>
          <a:p>
            <a:pPr marL="742950" lvl="1" indent="-285750"/>
            <a:r>
              <a:rPr lang="fr-FR" dirty="0"/>
              <a:t>base plus robuste pour de futurs usages BI / Data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441696-A117-1F74-F5AC-92151023E13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fr" dirty="0"/>
              <a:t>Inconvénients:</a:t>
            </a:r>
          </a:p>
          <a:p>
            <a:pPr lvl="1"/>
            <a:r>
              <a:rPr lang="fr-FR" dirty="0"/>
              <a:t>nécessite des </a:t>
            </a:r>
            <a:r>
              <a:rPr lang="fr-FR" b="1" dirty="0"/>
              <a:t>évolutions du modèle de données</a:t>
            </a:r>
          </a:p>
          <a:p>
            <a:pPr lvl="1"/>
            <a:r>
              <a:rPr lang="fr-FR" dirty="0"/>
              <a:t>demande une </a:t>
            </a:r>
            <a:r>
              <a:rPr lang="fr-FR" b="1" dirty="0"/>
              <a:t>mise à jour des flux de chargement</a:t>
            </a:r>
          </a:p>
          <a:p>
            <a:pPr lvl="1"/>
            <a:r>
              <a:rPr lang="fr-FR" dirty="0"/>
              <a:t>implique une </a:t>
            </a:r>
            <a:r>
              <a:rPr lang="fr-FR" b="1" dirty="0"/>
              <a:t>adaptation des </a:t>
            </a:r>
            <a:r>
              <a:rPr lang="fr-FR" b="1" dirty="0" err="1"/>
              <a:t>reportings</a:t>
            </a:r>
            <a:r>
              <a:rPr lang="fr-FR" dirty="0"/>
              <a:t> existants</a:t>
            </a:r>
          </a:p>
          <a:p>
            <a:pPr lvl="1"/>
            <a:r>
              <a:rPr lang="fr-FR" dirty="0"/>
              <a:t>peut demander un </a:t>
            </a:r>
            <a:r>
              <a:rPr lang="fr-FR" b="1" dirty="0"/>
              <a:t>effort de documentation</a:t>
            </a:r>
            <a:r>
              <a:rPr lang="fr-FR" dirty="0"/>
              <a:t> et de gouvernance supplémentaire</a:t>
            </a:r>
          </a:p>
          <a:p>
            <a:pPr lvl="1"/>
            <a:r>
              <a:rPr lang="fr-FR" dirty="0"/>
              <a:t>légère hausse de la </a:t>
            </a:r>
            <a:r>
              <a:rPr lang="fr-FR" b="1" dirty="0"/>
              <a:t>complexité technique</a:t>
            </a:r>
            <a:r>
              <a:rPr lang="fr-FR" dirty="0"/>
              <a:t> du système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Recommandations pour l’entreprise</a:t>
            </a:r>
            <a:br>
              <a:rPr lang="fr"/>
            </a:br>
            <a:r>
              <a:rPr lang="fr" sz="1850"/>
              <a:t>Implications pour l’organisation actuelle </a:t>
            </a:r>
            <a:endParaRPr sz="1850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09E82436-1E58-1EFE-2EE8-226121C3DB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Formaliser les </a:t>
            </a:r>
            <a:r>
              <a:rPr lang="fr-FR" b="1" dirty="0"/>
              <a:t>règles de chargement et de clôture</a:t>
            </a:r>
          </a:p>
          <a:p>
            <a:endParaRPr lang="fr-FR" b="1" dirty="0"/>
          </a:p>
          <a:p>
            <a:endParaRPr lang="fr-FR" b="1" dirty="0"/>
          </a:p>
          <a:p>
            <a:r>
              <a:rPr lang="fr-FR" dirty="0"/>
              <a:t>Clarifier les rôles entre </a:t>
            </a:r>
            <a:r>
              <a:rPr lang="fr-FR" b="1" dirty="0"/>
              <a:t>BI</a:t>
            </a:r>
            <a:r>
              <a:rPr lang="fr-FR" dirty="0"/>
              <a:t>, </a:t>
            </a:r>
            <a:r>
              <a:rPr lang="fr-FR" b="1" dirty="0"/>
              <a:t>Data Support</a:t>
            </a:r>
            <a:r>
              <a:rPr lang="fr-FR" dirty="0"/>
              <a:t> et </a:t>
            </a:r>
            <a:r>
              <a:rPr lang="fr-FR" b="1" dirty="0"/>
              <a:t>équipes techniques</a:t>
            </a:r>
          </a:p>
          <a:p>
            <a:endParaRPr lang="fr-FR" b="1" dirty="0"/>
          </a:p>
          <a:p>
            <a:endParaRPr lang="fr-FR" dirty="0"/>
          </a:p>
          <a:p>
            <a:r>
              <a:rPr lang="fr-FR" dirty="0"/>
              <a:t>Distinguer dans les </a:t>
            </a:r>
            <a:r>
              <a:rPr lang="fr-FR" dirty="0" err="1"/>
              <a:t>reportings</a:t>
            </a:r>
            <a:r>
              <a:rPr lang="fr-FR" dirty="0"/>
              <a:t> les données </a:t>
            </a:r>
            <a:r>
              <a:rPr lang="fr-FR" b="1" dirty="0"/>
              <a:t>provisoires</a:t>
            </a:r>
            <a:r>
              <a:rPr lang="fr-FR" dirty="0"/>
              <a:t> et </a:t>
            </a:r>
            <a:r>
              <a:rPr lang="fr-FR" b="1" dirty="0"/>
              <a:t>clôturées</a:t>
            </a:r>
          </a:p>
          <a:p>
            <a:endParaRPr lang="fr-FR" b="1" dirty="0"/>
          </a:p>
          <a:p>
            <a:endParaRPr lang="fr-FR" dirty="0"/>
          </a:p>
          <a:p>
            <a:r>
              <a:rPr lang="fr-FR" dirty="0"/>
              <a:t>Renforcer la </a:t>
            </a:r>
            <a:r>
              <a:rPr lang="fr-FR" b="1" dirty="0"/>
              <a:t>gouvernance</a:t>
            </a:r>
            <a:r>
              <a:rPr lang="fr-FR" dirty="0"/>
              <a:t>, la </a:t>
            </a:r>
            <a:r>
              <a:rPr lang="fr-FR" b="1" dirty="0"/>
              <a:t>documentation</a:t>
            </a:r>
            <a:r>
              <a:rPr lang="fr-FR" dirty="0"/>
              <a:t> et la </a:t>
            </a:r>
            <a:r>
              <a:rPr lang="fr-FR" b="1" dirty="0"/>
              <a:t>traçabilité</a:t>
            </a:r>
            <a:r>
              <a:rPr lang="fr-FR" dirty="0"/>
              <a:t> des données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Recommandations pour l’entreprise</a:t>
            </a:r>
            <a:br>
              <a:rPr lang="fr"/>
            </a:br>
            <a:r>
              <a:rPr lang="fr" sz="1850"/>
              <a:t>Planning de mise en place et coût éventuel</a:t>
            </a:r>
            <a:endParaRPr sz="1850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EF6B213-D408-5B95-F5DB-45B7CEC0D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Court terme</a:t>
            </a:r>
            <a:r>
              <a:rPr lang="fr-FR" dirty="0"/>
              <a:t> : </a:t>
            </a:r>
          </a:p>
          <a:p>
            <a:pPr lvl="1"/>
            <a:r>
              <a:rPr lang="fr-FR" dirty="0"/>
              <a:t>ajout de </a:t>
            </a:r>
            <a:r>
              <a:rPr lang="fr-FR" dirty="0" err="1"/>
              <a:t>date_integration</a:t>
            </a:r>
            <a:r>
              <a:rPr lang="fr-FR" dirty="0"/>
              <a:t>, </a:t>
            </a:r>
          </a:p>
          <a:p>
            <a:pPr lvl="1"/>
            <a:r>
              <a:rPr lang="fr-FR" dirty="0"/>
              <a:t>amélioration des logs, </a:t>
            </a:r>
          </a:p>
          <a:p>
            <a:pPr lvl="1"/>
            <a:r>
              <a:rPr lang="fr-FR" dirty="0"/>
              <a:t>règle de clôture</a:t>
            </a:r>
          </a:p>
          <a:p>
            <a:r>
              <a:rPr lang="fr-FR" b="1" dirty="0"/>
              <a:t>Moyen terme</a:t>
            </a:r>
            <a:r>
              <a:rPr lang="fr-FR" dirty="0"/>
              <a:t> : </a:t>
            </a:r>
          </a:p>
          <a:p>
            <a:pPr lvl="1"/>
            <a:r>
              <a:rPr lang="fr-FR" dirty="0"/>
              <a:t>adaptation des </a:t>
            </a:r>
            <a:r>
              <a:rPr lang="fr-FR" dirty="0" err="1"/>
              <a:t>reportings</a:t>
            </a:r>
            <a:endParaRPr lang="fr-FR" dirty="0"/>
          </a:p>
          <a:p>
            <a:pPr lvl="1"/>
            <a:r>
              <a:rPr lang="fr-FR" dirty="0"/>
              <a:t>renforcement des contraintes</a:t>
            </a:r>
          </a:p>
          <a:p>
            <a:r>
              <a:rPr lang="fr-FR" b="1" dirty="0"/>
              <a:t>Long terme</a:t>
            </a:r>
            <a:r>
              <a:rPr lang="fr-FR" dirty="0"/>
              <a:t> : </a:t>
            </a:r>
          </a:p>
          <a:p>
            <a:pPr lvl="1"/>
            <a:r>
              <a:rPr lang="fr-FR" dirty="0"/>
              <a:t>évolution du modèle de données</a:t>
            </a:r>
          </a:p>
          <a:p>
            <a:pPr lvl="1"/>
            <a:r>
              <a:rPr lang="fr-FR" dirty="0"/>
              <a:t>industrialisation des contrôles</a:t>
            </a:r>
          </a:p>
          <a:p>
            <a:r>
              <a:rPr lang="fr-FR" b="1" dirty="0"/>
              <a:t>Coût</a:t>
            </a:r>
            <a:r>
              <a:rPr lang="fr-FR" dirty="0"/>
              <a:t> : </a:t>
            </a:r>
          </a:p>
          <a:p>
            <a:pPr lvl="1"/>
            <a:r>
              <a:rPr lang="fr-FR" dirty="0"/>
              <a:t>principalement du temps homme,</a:t>
            </a:r>
          </a:p>
          <a:p>
            <a:pPr lvl="1"/>
            <a:r>
              <a:rPr lang="fr-FR" dirty="0"/>
              <a:t>impact technique modéré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 txBox="1">
            <a:spLocks noGrp="1"/>
          </p:cNvSpPr>
          <p:nvPr>
            <p:ph type="title"/>
          </p:nvPr>
        </p:nvSpPr>
        <p:spPr>
          <a:xfrm>
            <a:off x="311700" y="1388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Conclusion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2497</TotalTime>
  <Words>510</Words>
  <Application>Microsoft Office PowerPoint</Application>
  <PresentationFormat>Affichage à l'écran (16:9)</PresentationFormat>
  <Paragraphs>94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Arial</vt:lpstr>
      <vt:lpstr>Inter</vt:lpstr>
      <vt:lpstr>Lato</vt:lpstr>
      <vt:lpstr>Wingdings</vt:lpstr>
      <vt:lpstr>Montserrat</vt:lpstr>
      <vt:lpstr>Focus</vt:lpstr>
      <vt:lpstr>AUDIT :  Erreur sur le Cube OLAP </vt:lpstr>
      <vt:lpstr>Présentation de la mission</vt:lpstr>
      <vt:lpstr>Analyse de la base de données Architecture de l’entreprise</vt:lpstr>
      <vt:lpstr>Analyse de la base de données Dictionnaire des données du fichier OLAP et schéma relationnel</vt:lpstr>
      <vt:lpstr>Présentation du prototype de BDD Explication de la base de données</vt:lpstr>
      <vt:lpstr>Résultat des requêtes SQL Le chiffre d’affaires total pour le 14 Août</vt:lpstr>
      <vt:lpstr>Résultat des requêtes SQL Le chiffre d’affaires par client pour le top 10 des clients</vt:lpstr>
      <vt:lpstr>Résultat des requêtes SQL Le chiffre d’affaires encaissé par employé </vt:lpstr>
      <vt:lpstr>Analyse des logs Dictionnaire des données et explications</vt:lpstr>
      <vt:lpstr>Compréhension des problèmes sur la base des logs</vt:lpstr>
      <vt:lpstr>Recommandations pour l’entreprise</vt:lpstr>
      <vt:lpstr>Recommandations pour l’entreprise Avantages et inconvénients de la solution</vt:lpstr>
      <vt:lpstr>Recommandations pour l’entreprise Implications pour l’organisation actuelle </vt:lpstr>
      <vt:lpstr>Recommandations pour l’entreprise Planning de mise en place et coût éventuel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Paul-Alexandre ANNONAY</cp:lastModifiedBy>
  <cp:revision>4</cp:revision>
  <dcterms:modified xsi:type="dcterms:W3CDTF">2026-03-20T02:54:28Z</dcterms:modified>
</cp:coreProperties>
</file>